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81" y="-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FE6B6D-FF81-4B39-9256-80AE842DFBC2}" type="doc">
      <dgm:prSet loTypeId="urn:microsoft.com/office/officeart/2005/8/layout/h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de-DE"/>
        </a:p>
      </dgm:t>
    </dgm:pt>
    <dgm:pt modelId="{A0D4BA21-C92E-485B-B639-0F2BC3CE62D1}">
      <dgm:prSet phldrT="[Text]" phldr="0" custT="1"/>
      <dgm:spPr/>
      <dgm:t>
        <a:bodyPr/>
        <a:lstStyle/>
        <a:p>
          <a:pPr rtl="0"/>
          <a:r>
            <a:rPr lang="de-DE" sz="1000" b="1" dirty="0">
              <a:latin typeface="Segoe UI"/>
              <a:cs typeface="Segoe UI"/>
            </a:rPr>
            <a:t>Skalierbarkeit &amp; Flexibilität</a:t>
          </a:r>
        </a:p>
      </dgm:t>
    </dgm:pt>
    <dgm:pt modelId="{D544943F-F6DA-4294-9FA4-5054593E8D22}" type="parTrans" cxnId="{7EF6D4FF-8DAD-4844-87D5-D3C5CEF89866}">
      <dgm:prSet/>
      <dgm:spPr/>
      <dgm:t>
        <a:bodyPr/>
        <a:lstStyle/>
        <a:p>
          <a:endParaRPr lang="de-DE"/>
        </a:p>
      </dgm:t>
    </dgm:pt>
    <dgm:pt modelId="{97C0A64F-6463-4D89-A1C1-1C4AF595FA9D}" type="sibTrans" cxnId="{7EF6D4FF-8DAD-4844-87D5-D3C5CEF89866}">
      <dgm:prSet/>
      <dgm:spPr/>
      <dgm:t>
        <a:bodyPr/>
        <a:lstStyle/>
        <a:p>
          <a:endParaRPr lang="de-DE"/>
        </a:p>
      </dgm:t>
    </dgm:pt>
    <dgm:pt modelId="{F67CDB15-EE6C-4DEF-8099-2602AA343C44}">
      <dgm:prSet phldrT="[Text]" phldr="0" custT="1"/>
      <dgm:spPr/>
      <dgm:t>
        <a:bodyPr/>
        <a:lstStyle/>
        <a:p>
          <a:r>
            <a:rPr lang="de-DE" sz="1000" b="1" dirty="0">
              <a:latin typeface="Segoe UI"/>
              <a:cs typeface="Segoe UI"/>
            </a:rPr>
            <a:t>Kostenersparnis</a:t>
          </a:r>
        </a:p>
      </dgm:t>
    </dgm:pt>
    <dgm:pt modelId="{7A989B84-B838-428D-AC2B-5A3501DE1232}" type="parTrans" cxnId="{6C025237-F903-47F2-A37C-D97B1E1B47EA}">
      <dgm:prSet/>
      <dgm:spPr/>
      <dgm:t>
        <a:bodyPr/>
        <a:lstStyle/>
        <a:p>
          <a:endParaRPr lang="de-DE"/>
        </a:p>
      </dgm:t>
    </dgm:pt>
    <dgm:pt modelId="{116B5B98-EBCB-4507-B0E1-78E41C04DF2A}" type="sibTrans" cxnId="{6C025237-F903-47F2-A37C-D97B1E1B47EA}">
      <dgm:prSet/>
      <dgm:spPr/>
      <dgm:t>
        <a:bodyPr/>
        <a:lstStyle/>
        <a:p>
          <a:endParaRPr lang="de-DE"/>
        </a:p>
      </dgm:t>
    </dgm:pt>
    <dgm:pt modelId="{D08A4CA0-12BE-4A49-826F-AB23D4874D41}">
      <dgm:prSet phldrT="[Text]"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Keine Investition in lokale Hard-/Software &amp; Wartung</a:t>
          </a:r>
          <a:endParaRPr lang="de-DE" sz="1000" dirty="0">
            <a:latin typeface="Segoe UI"/>
            <a:cs typeface="Segoe UI"/>
          </a:endParaRPr>
        </a:p>
      </dgm:t>
    </dgm:pt>
    <dgm:pt modelId="{0DDCD321-8ACD-4B1A-A684-AAA6941B7866}" type="parTrans" cxnId="{307E0160-AEBE-467A-8533-B1112E6AC3F3}">
      <dgm:prSet/>
      <dgm:spPr/>
      <dgm:t>
        <a:bodyPr/>
        <a:lstStyle/>
        <a:p>
          <a:endParaRPr lang="de-DE"/>
        </a:p>
      </dgm:t>
    </dgm:pt>
    <dgm:pt modelId="{D4E56231-A5D7-4BF5-985F-16704B0245CD}" type="sibTrans" cxnId="{307E0160-AEBE-467A-8533-B1112E6AC3F3}">
      <dgm:prSet/>
      <dgm:spPr/>
      <dgm:t>
        <a:bodyPr/>
        <a:lstStyle/>
        <a:p>
          <a:endParaRPr lang="de-DE"/>
        </a:p>
      </dgm:t>
    </dgm:pt>
    <dgm:pt modelId="{F186D49F-F1F7-4AD1-88AC-F7658E59300D}">
      <dgm:prSet phldrT="[Text]" phldr="0" custT="1"/>
      <dgm:spPr/>
      <dgm:t>
        <a:bodyPr/>
        <a:lstStyle/>
        <a:p>
          <a:pPr rtl="0"/>
          <a:r>
            <a:rPr lang="de-DE" sz="1000" b="1" dirty="0">
              <a:latin typeface="Segoe UI"/>
              <a:cs typeface="Segoe UI"/>
            </a:rPr>
            <a:t>Einfache Zusammenarbeit &amp; Datenzugriff</a:t>
          </a:r>
        </a:p>
      </dgm:t>
    </dgm:pt>
    <dgm:pt modelId="{EDBD34DF-C4BD-474E-BC26-56821C375C06}" type="parTrans" cxnId="{61693063-AB24-4D4C-AA4F-AAEC335DBEC8}">
      <dgm:prSet/>
      <dgm:spPr/>
      <dgm:t>
        <a:bodyPr/>
        <a:lstStyle/>
        <a:p>
          <a:endParaRPr lang="de-DE"/>
        </a:p>
      </dgm:t>
    </dgm:pt>
    <dgm:pt modelId="{CEEFAE37-1525-42A2-B8AA-FF124C1EE4D1}" type="sibTrans" cxnId="{61693063-AB24-4D4C-AA4F-AAEC335DBEC8}">
      <dgm:prSet/>
      <dgm:spPr/>
      <dgm:t>
        <a:bodyPr/>
        <a:lstStyle/>
        <a:p>
          <a:endParaRPr lang="de-DE"/>
        </a:p>
      </dgm:t>
    </dgm:pt>
    <dgm:pt modelId="{F1502C9E-CDC6-41E8-9F30-C0A3A83269E3}">
      <dgm:prSet phldrT="[Text]"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Jederzeit &amp; ortsunabhängiger Datenzugriff für viele Personen</a:t>
          </a:r>
          <a:endParaRPr lang="de-DE" sz="1000" dirty="0">
            <a:latin typeface="Segoe UI"/>
            <a:cs typeface="Segoe UI"/>
          </a:endParaRPr>
        </a:p>
      </dgm:t>
    </dgm:pt>
    <dgm:pt modelId="{53FC3EE4-0FB3-42C2-8C10-82AB7C2E7068}" type="parTrans" cxnId="{02DE101D-D235-494B-8141-A2F01CEF2567}">
      <dgm:prSet/>
      <dgm:spPr/>
      <dgm:t>
        <a:bodyPr/>
        <a:lstStyle/>
        <a:p>
          <a:endParaRPr lang="de-DE"/>
        </a:p>
      </dgm:t>
    </dgm:pt>
    <dgm:pt modelId="{1327D964-8CC3-475B-B2E5-A4E26C2DDFBF}" type="sibTrans" cxnId="{02DE101D-D235-494B-8141-A2F01CEF2567}">
      <dgm:prSet/>
      <dgm:spPr/>
      <dgm:t>
        <a:bodyPr/>
        <a:lstStyle/>
        <a:p>
          <a:endParaRPr lang="de-DE"/>
        </a:p>
      </dgm:t>
    </dgm:pt>
    <dgm:pt modelId="{0BD0EBCC-DA88-41B3-8623-8CD64EA3A815}">
      <dgm:prSet phldr="0" custT="1"/>
      <dgm:spPr/>
      <dgm:t>
        <a:bodyPr/>
        <a:lstStyle/>
        <a:p>
          <a:r>
            <a:rPr lang="de-DE" sz="1000" b="1" dirty="0">
              <a:latin typeface="Segoe UI"/>
              <a:cs typeface="Segoe UI"/>
            </a:rPr>
            <a:t>Stärkere Integration mit anderen Cloud-Diensten</a:t>
          </a:r>
        </a:p>
      </dgm:t>
    </dgm:pt>
    <dgm:pt modelId="{CFDA8DDE-0042-43A1-B795-CD40FCA37736}" type="parTrans" cxnId="{6A692865-8C7F-4725-B4A1-405AC639624A}">
      <dgm:prSet/>
      <dgm:spPr/>
      <dgm:t>
        <a:bodyPr/>
        <a:lstStyle/>
        <a:p>
          <a:endParaRPr lang="en-US"/>
        </a:p>
      </dgm:t>
    </dgm:pt>
    <dgm:pt modelId="{850EAD51-1786-4C76-8BD7-C3981B64BED1}" type="sibTrans" cxnId="{6A692865-8C7F-4725-B4A1-405AC639624A}">
      <dgm:prSet/>
      <dgm:spPr/>
      <dgm:t>
        <a:bodyPr/>
        <a:lstStyle/>
        <a:p>
          <a:endParaRPr lang="en-US"/>
        </a:p>
      </dgm:t>
    </dgm:pt>
    <dgm:pt modelId="{06A10D8A-8A79-4D2B-B303-04A14690DF4E}">
      <dgm:prSet phldr="0" custT="1"/>
      <dgm:spPr/>
      <dgm:t>
        <a:bodyPr/>
        <a:lstStyle/>
        <a:p>
          <a:pPr algn="l"/>
          <a:r>
            <a:rPr lang="de-DE" sz="1000" b="0" dirty="0">
              <a:latin typeface="Segoe UI"/>
              <a:cs typeface="Segoe UI"/>
            </a:rPr>
            <a:t>Ideal für wachsende Unternehmen</a:t>
          </a:r>
        </a:p>
      </dgm:t>
    </dgm:pt>
    <dgm:pt modelId="{F824A1EC-B63A-4861-96F7-5E4C78D53FAE}" type="parTrans" cxnId="{C69A2746-6CDF-4B67-B476-859D9AE37068}">
      <dgm:prSet/>
      <dgm:spPr/>
      <dgm:t>
        <a:bodyPr/>
        <a:lstStyle/>
        <a:p>
          <a:endParaRPr lang="en-US"/>
        </a:p>
      </dgm:t>
    </dgm:pt>
    <dgm:pt modelId="{2B255DEB-34B8-4245-B67E-CFE8EB3ECF18}" type="sibTrans" cxnId="{C69A2746-6CDF-4B67-B476-859D9AE37068}">
      <dgm:prSet/>
      <dgm:spPr/>
      <dgm:t>
        <a:bodyPr/>
        <a:lstStyle/>
        <a:p>
          <a:endParaRPr lang="en-US"/>
        </a:p>
      </dgm:t>
    </dgm:pt>
    <dgm:pt modelId="{2AAEA98D-CAF6-46CE-AB3B-1556BF7EF0D0}">
      <dgm:prSet phldr="0" custT="1"/>
      <dgm:spPr/>
      <dgm:t>
        <a:bodyPr/>
        <a:lstStyle/>
        <a:p>
          <a:r>
            <a:rPr lang="de-DE" sz="1000" b="0" dirty="0">
              <a:latin typeface="Segoe UI"/>
              <a:cs typeface="Segoe UI"/>
            </a:rPr>
            <a:t>Ressourcen lassen sich je nach Bedarf anpassen</a:t>
          </a:r>
        </a:p>
      </dgm:t>
    </dgm:pt>
    <dgm:pt modelId="{4F8CBAF5-F19E-4161-AB11-806890C1295A}" type="parTrans" cxnId="{6D95CCF0-4945-4454-8DCE-E3AF76C6EBAF}">
      <dgm:prSet/>
      <dgm:spPr/>
      <dgm:t>
        <a:bodyPr/>
        <a:lstStyle/>
        <a:p>
          <a:endParaRPr lang="en-US"/>
        </a:p>
      </dgm:t>
    </dgm:pt>
    <dgm:pt modelId="{443F1DB7-1F64-4C99-8BB9-D81602993995}" type="sibTrans" cxnId="{6D95CCF0-4945-4454-8DCE-E3AF76C6EBAF}">
      <dgm:prSet/>
      <dgm:spPr/>
      <dgm:t>
        <a:bodyPr/>
        <a:lstStyle/>
        <a:p>
          <a:endParaRPr lang="en-US"/>
        </a:p>
      </dgm:t>
    </dgm:pt>
    <dgm:pt modelId="{E3013012-2E52-4663-87EA-FDB9D28C8663}">
      <dgm:prSet phldr="0" custT="1"/>
      <dgm:spPr/>
      <dgm:t>
        <a:bodyPr/>
        <a:lstStyle/>
        <a:p>
          <a:pPr rtl="0"/>
          <a:r>
            <a:rPr lang="de-DE" sz="1000" b="1" dirty="0">
              <a:latin typeface="Segoe UI"/>
              <a:cs typeface="Segoe UI"/>
            </a:rPr>
            <a:t>Schnelle </a:t>
          </a:r>
          <a:r>
            <a:rPr lang="de-DE" sz="1000" b="1" dirty="0">
              <a:latin typeface="Segoe UI"/>
              <a:ea typeface="Calibri"/>
              <a:cs typeface="Calibri"/>
            </a:rPr>
            <a:t>Datenbearbeitung</a:t>
          </a:r>
        </a:p>
      </dgm:t>
    </dgm:pt>
    <dgm:pt modelId="{D3AE1E44-F013-4D68-AB60-7BB21054D23E}" type="parTrans" cxnId="{FA89A53C-3710-47CF-AF9B-8579F4A71840}">
      <dgm:prSet/>
      <dgm:spPr/>
      <dgm:t>
        <a:bodyPr/>
        <a:lstStyle/>
        <a:p>
          <a:endParaRPr lang="en-US"/>
        </a:p>
      </dgm:t>
    </dgm:pt>
    <dgm:pt modelId="{13FBF65A-DC0F-4312-8E5C-6C54790CD5A7}" type="sibTrans" cxnId="{FA89A53C-3710-47CF-AF9B-8579F4A71840}">
      <dgm:prSet/>
      <dgm:spPr/>
      <dgm:t>
        <a:bodyPr/>
        <a:lstStyle/>
        <a:p>
          <a:endParaRPr lang="en-US"/>
        </a:p>
      </dgm:t>
    </dgm:pt>
    <dgm:pt modelId="{422B2C14-8342-4B9A-881A-A78376A8AE85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Einsparungsmöglichkeiten wegen wenigerem IT-Aufwand, einfacher Implementierung</a:t>
          </a:r>
        </a:p>
      </dgm:t>
    </dgm:pt>
    <dgm:pt modelId="{1788B8B4-F6CD-43EB-9E24-92A68C141F5C}" type="parTrans" cxnId="{174D79A1-5900-4C03-B405-C2970F93D84A}">
      <dgm:prSet/>
      <dgm:spPr/>
      <dgm:t>
        <a:bodyPr/>
        <a:lstStyle/>
        <a:p>
          <a:endParaRPr lang="en-US"/>
        </a:p>
      </dgm:t>
    </dgm:pt>
    <dgm:pt modelId="{B583D701-629C-4E05-8AD3-E1D7FF2766ED}" type="sibTrans" cxnId="{174D79A1-5900-4C03-B405-C2970F93D84A}">
      <dgm:prSet/>
      <dgm:spPr/>
      <dgm:t>
        <a:bodyPr/>
        <a:lstStyle/>
        <a:p>
          <a:endParaRPr lang="en-US"/>
        </a:p>
      </dgm:t>
    </dgm:pt>
    <dgm:pt modelId="{82A2E536-7978-4255-AE7B-1D30843DB8AD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Gute Geschäftseinblicke &amp; Zusammenarbeit zwischen Abteilungen dank zentraler Daten</a:t>
          </a:r>
        </a:p>
      </dgm:t>
    </dgm:pt>
    <dgm:pt modelId="{119498E8-6391-4C3C-A457-B45F33CC9259}" type="parTrans" cxnId="{C9B16C16-D720-4D61-ACAF-640FA11F3B74}">
      <dgm:prSet/>
      <dgm:spPr/>
      <dgm:t>
        <a:bodyPr/>
        <a:lstStyle/>
        <a:p>
          <a:endParaRPr lang="en-US"/>
        </a:p>
      </dgm:t>
    </dgm:pt>
    <dgm:pt modelId="{6094322D-200C-4148-A167-F7B6C6C4889E}" type="sibTrans" cxnId="{C9B16C16-D720-4D61-ACAF-640FA11F3B74}">
      <dgm:prSet/>
      <dgm:spPr/>
      <dgm:t>
        <a:bodyPr/>
        <a:lstStyle/>
        <a:p>
          <a:endParaRPr lang="en-US"/>
        </a:p>
      </dgm:t>
    </dgm:pt>
    <dgm:pt modelId="{2D58660E-344A-4C97-8D0A-FE50BAE06C74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Echtzeitdaten aus mehreren Quellen</a:t>
          </a:r>
        </a:p>
      </dgm:t>
    </dgm:pt>
    <dgm:pt modelId="{21A189E7-1BB1-4B3E-B607-FD9A9657BA3C}" type="parTrans" cxnId="{D8039F14-79FD-4A57-B019-F6F4B2F48558}">
      <dgm:prSet/>
      <dgm:spPr/>
      <dgm:t>
        <a:bodyPr/>
        <a:lstStyle/>
        <a:p>
          <a:endParaRPr lang="en-US"/>
        </a:p>
      </dgm:t>
    </dgm:pt>
    <dgm:pt modelId="{0A4E715C-FD4D-4C73-BC72-0201139EC66A}" type="sibTrans" cxnId="{D8039F14-79FD-4A57-B019-F6F4B2F48558}">
      <dgm:prSet/>
      <dgm:spPr/>
      <dgm:t>
        <a:bodyPr/>
        <a:lstStyle/>
        <a:p>
          <a:endParaRPr lang="en-US"/>
        </a:p>
      </dgm:t>
    </dgm:pt>
    <dgm:pt modelId="{751739F0-8EC7-49FA-BC65-45BAA1B69872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Bearbeitung komplexer Daten und Analysen beschleunigen</a:t>
          </a:r>
        </a:p>
      </dgm:t>
    </dgm:pt>
    <dgm:pt modelId="{D2CD6D72-BBAC-42BC-8346-31E25CED00EF}" type="parTrans" cxnId="{86268C03-E036-434F-A8E9-1F10F2E7F6C2}">
      <dgm:prSet/>
      <dgm:spPr/>
      <dgm:t>
        <a:bodyPr/>
        <a:lstStyle/>
        <a:p>
          <a:endParaRPr lang="en-US"/>
        </a:p>
      </dgm:t>
    </dgm:pt>
    <dgm:pt modelId="{5C84B5FE-FC59-4B20-BF2E-38C54BA5C0B1}" type="sibTrans" cxnId="{86268C03-E036-434F-A8E9-1F10F2E7F6C2}">
      <dgm:prSet/>
      <dgm:spPr/>
      <dgm:t>
        <a:bodyPr/>
        <a:lstStyle/>
        <a:p>
          <a:endParaRPr lang="en-US"/>
        </a:p>
      </dgm:t>
    </dgm:pt>
    <dgm:pt modelId="{B8B48972-6971-464C-89C8-91F29D84DABF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Automatisierte Prognosen, Budgetierung und Reports erstellen</a:t>
          </a:r>
        </a:p>
      </dgm:t>
    </dgm:pt>
    <dgm:pt modelId="{E365A0DB-312F-4FB7-8474-44D8BB042DF7}" type="parTrans" cxnId="{8E39CCDD-3293-49D9-B8FA-6D31BD15F063}">
      <dgm:prSet/>
      <dgm:spPr/>
      <dgm:t>
        <a:bodyPr/>
        <a:lstStyle/>
        <a:p>
          <a:endParaRPr lang="en-US"/>
        </a:p>
      </dgm:t>
    </dgm:pt>
    <dgm:pt modelId="{D8ED7FDA-04D8-44A5-BC54-4E17C8584278}" type="sibTrans" cxnId="{8E39CCDD-3293-49D9-B8FA-6D31BD15F063}">
      <dgm:prSet/>
      <dgm:spPr/>
      <dgm:t>
        <a:bodyPr/>
        <a:lstStyle/>
        <a:p>
          <a:endParaRPr lang="en-US"/>
        </a:p>
      </dgm:t>
    </dgm:pt>
    <dgm:pt modelId="{AFEF2CD2-1C50-47A8-A452-01F619396B56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Daten aus lokalen und Cloud-Quellen zu kombinieren</a:t>
          </a:r>
          <a:endParaRPr lang="de-DE" sz="1000" dirty="0">
            <a:latin typeface="Segoe UI"/>
            <a:cs typeface="Segoe UI"/>
          </a:endParaRPr>
        </a:p>
      </dgm:t>
    </dgm:pt>
    <dgm:pt modelId="{BB5356AB-0811-4057-9A98-22FFA715C6C4}" type="parTrans" cxnId="{D964D453-BCDF-4FBC-B085-6737151D3CA4}">
      <dgm:prSet/>
      <dgm:spPr/>
      <dgm:t>
        <a:bodyPr/>
        <a:lstStyle/>
        <a:p>
          <a:endParaRPr lang="en-US"/>
        </a:p>
      </dgm:t>
    </dgm:pt>
    <dgm:pt modelId="{294CFB5A-3253-4C19-A6BE-776A0E3ABC32}" type="sibTrans" cxnId="{D964D453-BCDF-4FBC-B085-6737151D3CA4}">
      <dgm:prSet/>
      <dgm:spPr/>
      <dgm:t>
        <a:bodyPr/>
        <a:lstStyle/>
        <a:p>
          <a:endParaRPr lang="en-US"/>
        </a:p>
      </dgm:t>
    </dgm:pt>
    <dgm:pt modelId="{A5F00A2D-7134-4506-8B54-31B4FA76D65A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Daten mit Echtzeit- und webbasierten Erkenntnissen zu erweitern</a:t>
          </a:r>
        </a:p>
      </dgm:t>
    </dgm:pt>
    <dgm:pt modelId="{748CE359-070C-4A40-BC62-EA228C4920F1}" type="parTrans" cxnId="{0E66B0AD-F622-4D00-9B74-174315A0F2EB}">
      <dgm:prSet/>
      <dgm:spPr/>
      <dgm:t>
        <a:bodyPr/>
        <a:lstStyle/>
        <a:p>
          <a:endParaRPr lang="en-US"/>
        </a:p>
      </dgm:t>
    </dgm:pt>
    <dgm:pt modelId="{FF0F0D52-8EE8-4118-A214-DCD8C64923C4}" type="sibTrans" cxnId="{0E66B0AD-F622-4D00-9B74-174315A0F2EB}">
      <dgm:prSet/>
      <dgm:spPr/>
      <dgm:t>
        <a:bodyPr/>
        <a:lstStyle/>
        <a:p>
          <a:endParaRPr lang="en-US"/>
        </a:p>
      </dgm:t>
    </dgm:pt>
    <dgm:pt modelId="{730CAECC-E9D3-4FE4-B48F-83A2D19E875F}">
      <dgm:prSet phldr="0" custT="1"/>
      <dgm:spPr/>
      <dgm:t>
        <a:bodyPr/>
        <a:lstStyle/>
        <a:p>
          <a:pPr rtl="0"/>
          <a:endParaRPr lang="de-DE" sz="1050" dirty="0">
            <a:latin typeface="Segoe UI"/>
            <a:ea typeface="Calibri"/>
            <a:cs typeface="Calibri"/>
          </a:endParaRPr>
        </a:p>
      </dgm:t>
    </dgm:pt>
    <dgm:pt modelId="{39C4CB5C-D22E-413C-B024-57802318444E}" type="parTrans" cxnId="{2670F373-3E7D-4AFA-B55C-20D6D07DEADC}">
      <dgm:prSet/>
      <dgm:spPr/>
      <dgm:t>
        <a:bodyPr/>
        <a:lstStyle/>
        <a:p>
          <a:endParaRPr lang="en-US"/>
        </a:p>
      </dgm:t>
    </dgm:pt>
    <dgm:pt modelId="{A3B06761-7DFE-4FE0-8BB2-5ACDB37C1C11}" type="sibTrans" cxnId="{2670F373-3E7D-4AFA-B55C-20D6D07DEADC}">
      <dgm:prSet/>
      <dgm:spPr/>
      <dgm:t>
        <a:bodyPr/>
        <a:lstStyle/>
        <a:p>
          <a:endParaRPr lang="en-US"/>
        </a:p>
      </dgm:t>
    </dgm:pt>
    <dgm:pt modelId="{8B67902E-0B2A-4A79-9B59-F59DA7A71D3C}" type="pres">
      <dgm:prSet presAssocID="{32FE6B6D-FF81-4B39-9256-80AE842DFBC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3870598-C20E-4F4F-8F71-3FA256ED30CF}" type="pres">
      <dgm:prSet presAssocID="{A0D4BA21-C92E-485B-B639-0F2BC3CE62D1}" presName="composite" presStyleCnt="0"/>
      <dgm:spPr/>
    </dgm:pt>
    <dgm:pt modelId="{A67FF213-5269-4698-A019-BE76142821D7}" type="pres">
      <dgm:prSet presAssocID="{A0D4BA21-C92E-485B-B639-0F2BC3CE62D1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FD1703-CF9A-48EE-AC02-8B0413BF2ADF}" type="pres">
      <dgm:prSet presAssocID="{A0D4BA21-C92E-485B-B639-0F2BC3CE62D1}" presName="desTx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C0AFE3-13CB-40BB-8286-D801277E6F73}" type="pres">
      <dgm:prSet presAssocID="{97C0A64F-6463-4D89-A1C1-1C4AF595FA9D}" presName="space" presStyleCnt="0"/>
      <dgm:spPr/>
    </dgm:pt>
    <dgm:pt modelId="{9EA66A61-5702-4A60-A31E-1F1A6BC67385}" type="pres">
      <dgm:prSet presAssocID="{F67CDB15-EE6C-4DEF-8099-2602AA343C44}" presName="composite" presStyleCnt="0"/>
      <dgm:spPr/>
    </dgm:pt>
    <dgm:pt modelId="{12D1A7BB-CA9B-47EE-B193-3DC0E074E153}" type="pres">
      <dgm:prSet presAssocID="{F67CDB15-EE6C-4DEF-8099-2602AA343C44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C8A9EA-51C6-4562-AC69-EA1888B3E22C}" type="pres">
      <dgm:prSet presAssocID="{F67CDB15-EE6C-4DEF-8099-2602AA343C44}" presName="desTx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8CCB39-ABDE-436F-B2CC-02DC773ED47E}" type="pres">
      <dgm:prSet presAssocID="{116B5B98-EBCB-4507-B0E1-78E41C04DF2A}" presName="space" presStyleCnt="0"/>
      <dgm:spPr/>
    </dgm:pt>
    <dgm:pt modelId="{8BD4D13B-F5A0-4136-902C-C2F7008C57B5}" type="pres">
      <dgm:prSet presAssocID="{F186D49F-F1F7-4AD1-88AC-F7658E59300D}" presName="composite" presStyleCnt="0"/>
      <dgm:spPr/>
    </dgm:pt>
    <dgm:pt modelId="{CA7A0C45-E308-4FB2-8D83-089F426B04E7}" type="pres">
      <dgm:prSet presAssocID="{F186D49F-F1F7-4AD1-88AC-F7658E59300D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108901-1D23-4FD6-8EDE-513A413B93EA}" type="pres">
      <dgm:prSet presAssocID="{F186D49F-F1F7-4AD1-88AC-F7658E59300D}" presName="desTx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F34809-6069-4289-A127-95E4179B81A6}" type="pres">
      <dgm:prSet presAssocID="{CEEFAE37-1525-42A2-B8AA-FF124C1EE4D1}" presName="space" presStyleCnt="0"/>
      <dgm:spPr/>
    </dgm:pt>
    <dgm:pt modelId="{CFCB9974-5BDD-4B82-A225-97D32C683D4D}" type="pres">
      <dgm:prSet presAssocID="{E3013012-2E52-4663-87EA-FDB9D28C8663}" presName="composite" presStyleCnt="0"/>
      <dgm:spPr/>
    </dgm:pt>
    <dgm:pt modelId="{1AB420D4-8C2F-44EA-9691-1E3D912D7F09}" type="pres">
      <dgm:prSet presAssocID="{E3013012-2E52-4663-87EA-FDB9D28C8663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2D6980-6FC9-4424-8972-D11654256F2C}" type="pres">
      <dgm:prSet presAssocID="{E3013012-2E52-4663-87EA-FDB9D28C8663}" presName="desTx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7ED627-9AC0-4A36-8993-8BA5CA75EFB7}" type="pres">
      <dgm:prSet presAssocID="{13FBF65A-DC0F-4312-8E5C-6C54790CD5A7}" presName="space" presStyleCnt="0"/>
      <dgm:spPr/>
    </dgm:pt>
    <dgm:pt modelId="{C90DD209-F408-4301-96DB-46853168FC29}" type="pres">
      <dgm:prSet presAssocID="{0BD0EBCC-DA88-41B3-8623-8CD64EA3A815}" presName="composite" presStyleCnt="0"/>
      <dgm:spPr/>
    </dgm:pt>
    <dgm:pt modelId="{798AF4EA-3790-4D77-9C99-A231C5E0F26D}" type="pres">
      <dgm:prSet presAssocID="{0BD0EBCC-DA88-41B3-8623-8CD64EA3A815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5AF57A-026A-4660-99BE-C7C702077FD9}" type="pres">
      <dgm:prSet presAssocID="{0BD0EBCC-DA88-41B3-8623-8CD64EA3A815}" presName="desTx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64D453-BCDF-4FBC-B085-6737151D3CA4}" srcId="{0BD0EBCC-DA88-41B3-8623-8CD64EA3A815}" destId="{AFEF2CD2-1C50-47A8-A452-01F619396B56}" srcOrd="0" destOrd="0" parTransId="{BB5356AB-0811-4057-9A98-22FFA715C6C4}" sibTransId="{294CFB5A-3253-4C19-A6BE-776A0E3ABC32}"/>
    <dgm:cxn modelId="{8E39CCDD-3293-49D9-B8FA-6D31BD15F063}" srcId="{E3013012-2E52-4663-87EA-FDB9D28C8663}" destId="{B8B48972-6971-464C-89C8-91F29D84DABF}" srcOrd="2" destOrd="0" parTransId="{E365A0DB-312F-4FB7-8474-44D8BB042DF7}" sibTransId="{D8ED7FDA-04D8-44A5-BC54-4E17C8584278}"/>
    <dgm:cxn modelId="{52DFAE15-1DDB-451A-A5DE-78D19974E01A}" type="presOf" srcId="{B8B48972-6971-464C-89C8-91F29D84DABF}" destId="{FD2D6980-6FC9-4424-8972-D11654256F2C}" srcOrd="0" destOrd="2" presId="urn:microsoft.com/office/officeart/2005/8/layout/hList1"/>
    <dgm:cxn modelId="{02DE101D-D235-494B-8141-A2F01CEF2567}" srcId="{F186D49F-F1F7-4AD1-88AC-F7658E59300D}" destId="{F1502C9E-CDC6-41E8-9F30-C0A3A83269E3}" srcOrd="0" destOrd="0" parTransId="{53FC3EE4-0FB3-42C2-8C10-82AB7C2E7068}" sibTransId="{1327D964-8CC3-475B-B2E5-A4E26C2DDFBF}"/>
    <dgm:cxn modelId="{83E8650B-DE83-4E7C-BDA4-641076BF8F60}" type="presOf" srcId="{F1502C9E-CDC6-41E8-9F30-C0A3A83269E3}" destId="{F1108901-1D23-4FD6-8EDE-513A413B93EA}" srcOrd="0" destOrd="0" presId="urn:microsoft.com/office/officeart/2005/8/layout/hList1"/>
    <dgm:cxn modelId="{D790A332-7788-4154-B400-4018985BF094}" type="presOf" srcId="{2D58660E-344A-4C97-8D0A-FE50BAE06C74}" destId="{FD2D6980-6FC9-4424-8972-D11654256F2C}" srcOrd="0" destOrd="0" presId="urn:microsoft.com/office/officeart/2005/8/layout/hList1"/>
    <dgm:cxn modelId="{61693063-AB24-4D4C-AA4F-AAEC335DBEC8}" srcId="{32FE6B6D-FF81-4B39-9256-80AE842DFBC2}" destId="{F186D49F-F1F7-4AD1-88AC-F7658E59300D}" srcOrd="2" destOrd="0" parTransId="{EDBD34DF-C4BD-474E-BC26-56821C375C06}" sibTransId="{CEEFAE37-1525-42A2-B8AA-FF124C1EE4D1}"/>
    <dgm:cxn modelId="{D8039F14-79FD-4A57-B019-F6F4B2F48558}" srcId="{E3013012-2E52-4663-87EA-FDB9D28C8663}" destId="{2D58660E-344A-4C97-8D0A-FE50BAE06C74}" srcOrd="0" destOrd="0" parTransId="{21A189E7-1BB1-4B3E-B607-FD9A9657BA3C}" sibTransId="{0A4E715C-FD4D-4C73-BC72-0201139EC66A}"/>
    <dgm:cxn modelId="{B9D66890-787C-4D4C-BA64-89E2EC7B813A}" type="presOf" srcId="{A5F00A2D-7134-4506-8B54-31B4FA76D65A}" destId="{505AF57A-026A-4660-99BE-C7C702077FD9}" srcOrd="0" destOrd="1" presId="urn:microsoft.com/office/officeart/2005/8/layout/hList1"/>
    <dgm:cxn modelId="{B44E9765-FECF-41D1-84DA-8DE3B6BF527A}" type="presOf" srcId="{F186D49F-F1F7-4AD1-88AC-F7658E59300D}" destId="{CA7A0C45-E308-4FB2-8D83-089F426B04E7}" srcOrd="0" destOrd="0" presId="urn:microsoft.com/office/officeart/2005/8/layout/hList1"/>
    <dgm:cxn modelId="{B469C7E6-8F3D-4529-8FD5-7182B8916D98}" type="presOf" srcId="{82A2E536-7978-4255-AE7B-1D30843DB8AD}" destId="{F1108901-1D23-4FD6-8EDE-513A413B93EA}" srcOrd="0" destOrd="1" presId="urn:microsoft.com/office/officeart/2005/8/layout/hList1"/>
    <dgm:cxn modelId="{A4219765-256E-4CF0-88E1-8427E78573EE}" type="presOf" srcId="{0BD0EBCC-DA88-41B3-8623-8CD64EA3A815}" destId="{798AF4EA-3790-4D77-9C99-A231C5E0F26D}" srcOrd="0" destOrd="0" presId="urn:microsoft.com/office/officeart/2005/8/layout/hList1"/>
    <dgm:cxn modelId="{19677881-ED0F-4993-BCAE-49739FC477F7}" type="presOf" srcId="{751739F0-8EC7-49FA-BC65-45BAA1B69872}" destId="{FD2D6980-6FC9-4424-8972-D11654256F2C}" srcOrd="0" destOrd="1" presId="urn:microsoft.com/office/officeart/2005/8/layout/hList1"/>
    <dgm:cxn modelId="{6D95CCF0-4945-4454-8DCE-E3AF76C6EBAF}" srcId="{A0D4BA21-C92E-485B-B639-0F2BC3CE62D1}" destId="{2AAEA98D-CAF6-46CE-AB3B-1556BF7EF0D0}" srcOrd="0" destOrd="0" parTransId="{4F8CBAF5-F19E-4161-AB11-806890C1295A}" sibTransId="{443F1DB7-1F64-4C99-8BB9-D81602993995}"/>
    <dgm:cxn modelId="{7EF6D4FF-8DAD-4844-87D5-D3C5CEF89866}" srcId="{32FE6B6D-FF81-4B39-9256-80AE842DFBC2}" destId="{A0D4BA21-C92E-485B-B639-0F2BC3CE62D1}" srcOrd="0" destOrd="0" parTransId="{D544943F-F6DA-4294-9FA4-5054593E8D22}" sibTransId="{97C0A64F-6463-4D89-A1C1-1C4AF595FA9D}"/>
    <dgm:cxn modelId="{AC57908C-F03C-427C-90C7-01CC188FDA12}" type="presOf" srcId="{AFEF2CD2-1C50-47A8-A452-01F619396B56}" destId="{505AF57A-026A-4660-99BE-C7C702077FD9}" srcOrd="0" destOrd="0" presId="urn:microsoft.com/office/officeart/2005/8/layout/hList1"/>
    <dgm:cxn modelId="{C9B16C16-D720-4D61-ACAF-640FA11F3B74}" srcId="{F186D49F-F1F7-4AD1-88AC-F7658E59300D}" destId="{82A2E536-7978-4255-AE7B-1D30843DB8AD}" srcOrd="1" destOrd="0" parTransId="{119498E8-6391-4C3C-A457-B45F33CC9259}" sibTransId="{6094322D-200C-4148-A167-F7B6C6C4889E}"/>
    <dgm:cxn modelId="{A16FB149-2F2A-4E84-9CC8-45E5931808BF}" type="presOf" srcId="{32FE6B6D-FF81-4B39-9256-80AE842DFBC2}" destId="{8B67902E-0B2A-4A79-9B59-F59DA7A71D3C}" srcOrd="0" destOrd="0" presId="urn:microsoft.com/office/officeart/2005/8/layout/hList1"/>
    <dgm:cxn modelId="{307E0160-AEBE-467A-8533-B1112E6AC3F3}" srcId="{F67CDB15-EE6C-4DEF-8099-2602AA343C44}" destId="{D08A4CA0-12BE-4A49-826F-AB23D4874D41}" srcOrd="0" destOrd="0" parTransId="{0DDCD321-8ACD-4B1A-A684-AAA6941B7866}" sibTransId="{D4E56231-A5D7-4BF5-985F-16704B0245CD}"/>
    <dgm:cxn modelId="{DEEA13C7-1F22-4AD0-B880-30F35C758AA3}" type="presOf" srcId="{A0D4BA21-C92E-485B-B639-0F2BC3CE62D1}" destId="{A67FF213-5269-4698-A019-BE76142821D7}" srcOrd="0" destOrd="0" presId="urn:microsoft.com/office/officeart/2005/8/layout/hList1"/>
    <dgm:cxn modelId="{2670F373-3E7D-4AFA-B55C-20D6D07DEADC}" srcId="{0BD0EBCC-DA88-41B3-8623-8CD64EA3A815}" destId="{730CAECC-E9D3-4FE4-B48F-83A2D19E875F}" srcOrd="2" destOrd="0" parTransId="{39C4CB5C-D22E-413C-B024-57802318444E}" sibTransId="{A3B06761-7DFE-4FE0-8BB2-5ACDB37C1C11}"/>
    <dgm:cxn modelId="{174D79A1-5900-4C03-B405-C2970F93D84A}" srcId="{F67CDB15-EE6C-4DEF-8099-2602AA343C44}" destId="{422B2C14-8342-4B9A-881A-A78376A8AE85}" srcOrd="1" destOrd="0" parTransId="{1788B8B4-F6CD-43EB-9E24-92A68C141F5C}" sibTransId="{B583D701-629C-4E05-8AD3-E1D7FF2766ED}"/>
    <dgm:cxn modelId="{5C38179D-2753-40DE-8597-A9B7E7EFF093}" type="presOf" srcId="{730CAECC-E9D3-4FE4-B48F-83A2D19E875F}" destId="{505AF57A-026A-4660-99BE-C7C702077FD9}" srcOrd="0" destOrd="2" presId="urn:microsoft.com/office/officeart/2005/8/layout/hList1"/>
    <dgm:cxn modelId="{6A692865-8C7F-4725-B4A1-405AC639624A}" srcId="{32FE6B6D-FF81-4B39-9256-80AE842DFBC2}" destId="{0BD0EBCC-DA88-41B3-8623-8CD64EA3A815}" srcOrd="4" destOrd="0" parTransId="{CFDA8DDE-0042-43A1-B795-CD40FCA37736}" sibTransId="{850EAD51-1786-4C76-8BD7-C3981B64BED1}"/>
    <dgm:cxn modelId="{097633B1-02C1-4F16-ABF9-D66458E5A452}" type="presOf" srcId="{2AAEA98D-CAF6-46CE-AB3B-1556BF7EF0D0}" destId="{41FD1703-CF9A-48EE-AC02-8B0413BF2ADF}" srcOrd="0" destOrd="0" presId="urn:microsoft.com/office/officeart/2005/8/layout/hList1"/>
    <dgm:cxn modelId="{6C025237-F903-47F2-A37C-D97B1E1B47EA}" srcId="{32FE6B6D-FF81-4B39-9256-80AE842DFBC2}" destId="{F67CDB15-EE6C-4DEF-8099-2602AA343C44}" srcOrd="1" destOrd="0" parTransId="{7A989B84-B838-428D-AC2B-5A3501DE1232}" sibTransId="{116B5B98-EBCB-4507-B0E1-78E41C04DF2A}"/>
    <dgm:cxn modelId="{41BBE9BD-419C-4258-984C-E1DFD7BC9287}" type="presOf" srcId="{D08A4CA0-12BE-4A49-826F-AB23D4874D41}" destId="{C1C8A9EA-51C6-4562-AC69-EA1888B3E22C}" srcOrd="0" destOrd="0" presId="urn:microsoft.com/office/officeart/2005/8/layout/hList1"/>
    <dgm:cxn modelId="{0E66B0AD-F622-4D00-9B74-174315A0F2EB}" srcId="{0BD0EBCC-DA88-41B3-8623-8CD64EA3A815}" destId="{A5F00A2D-7134-4506-8B54-31B4FA76D65A}" srcOrd="1" destOrd="0" parTransId="{748CE359-070C-4A40-BC62-EA228C4920F1}" sibTransId="{FF0F0D52-8EE8-4118-A214-DCD8C64923C4}"/>
    <dgm:cxn modelId="{FA89A53C-3710-47CF-AF9B-8579F4A71840}" srcId="{32FE6B6D-FF81-4B39-9256-80AE842DFBC2}" destId="{E3013012-2E52-4663-87EA-FDB9D28C8663}" srcOrd="3" destOrd="0" parTransId="{D3AE1E44-F013-4D68-AB60-7BB21054D23E}" sibTransId="{13FBF65A-DC0F-4312-8E5C-6C54790CD5A7}"/>
    <dgm:cxn modelId="{C174D368-0080-469A-B96E-6F3EF92422FE}" type="presOf" srcId="{06A10D8A-8A79-4D2B-B303-04A14690DF4E}" destId="{41FD1703-CF9A-48EE-AC02-8B0413BF2ADF}" srcOrd="0" destOrd="1" presId="urn:microsoft.com/office/officeart/2005/8/layout/hList1"/>
    <dgm:cxn modelId="{C69A2746-6CDF-4B67-B476-859D9AE37068}" srcId="{A0D4BA21-C92E-485B-B639-0F2BC3CE62D1}" destId="{06A10D8A-8A79-4D2B-B303-04A14690DF4E}" srcOrd="1" destOrd="0" parTransId="{F824A1EC-B63A-4861-96F7-5E4C78D53FAE}" sibTransId="{2B255DEB-34B8-4245-B67E-CFE8EB3ECF18}"/>
    <dgm:cxn modelId="{08E54B10-7786-462D-95CD-773F429370C6}" type="presOf" srcId="{E3013012-2E52-4663-87EA-FDB9D28C8663}" destId="{1AB420D4-8C2F-44EA-9691-1E3D912D7F09}" srcOrd="0" destOrd="0" presId="urn:microsoft.com/office/officeart/2005/8/layout/hList1"/>
    <dgm:cxn modelId="{36CB1493-5EFC-4569-BF27-F781F5EEC6C6}" type="presOf" srcId="{F67CDB15-EE6C-4DEF-8099-2602AA343C44}" destId="{12D1A7BB-CA9B-47EE-B193-3DC0E074E153}" srcOrd="0" destOrd="0" presId="urn:microsoft.com/office/officeart/2005/8/layout/hList1"/>
    <dgm:cxn modelId="{86268C03-E036-434F-A8E9-1F10F2E7F6C2}" srcId="{E3013012-2E52-4663-87EA-FDB9D28C8663}" destId="{751739F0-8EC7-49FA-BC65-45BAA1B69872}" srcOrd="1" destOrd="0" parTransId="{D2CD6D72-BBAC-42BC-8346-31E25CED00EF}" sibTransId="{5C84B5FE-FC59-4B20-BF2E-38C54BA5C0B1}"/>
    <dgm:cxn modelId="{9D4C2288-E788-4F1B-B369-FF1FF69D2B30}" type="presOf" srcId="{422B2C14-8342-4B9A-881A-A78376A8AE85}" destId="{C1C8A9EA-51C6-4562-AC69-EA1888B3E22C}" srcOrd="0" destOrd="1" presId="urn:microsoft.com/office/officeart/2005/8/layout/hList1"/>
    <dgm:cxn modelId="{D07C33FA-0EE0-4BAE-8CD0-F8368764F08C}" type="presParOf" srcId="{8B67902E-0B2A-4A79-9B59-F59DA7A71D3C}" destId="{C3870598-C20E-4F4F-8F71-3FA256ED30CF}" srcOrd="0" destOrd="0" presId="urn:microsoft.com/office/officeart/2005/8/layout/hList1"/>
    <dgm:cxn modelId="{7B933A48-341E-4D0E-91FD-6D3B60AF6CAE}" type="presParOf" srcId="{C3870598-C20E-4F4F-8F71-3FA256ED30CF}" destId="{A67FF213-5269-4698-A019-BE76142821D7}" srcOrd="0" destOrd="0" presId="urn:microsoft.com/office/officeart/2005/8/layout/hList1"/>
    <dgm:cxn modelId="{8E539470-2F0D-457A-A8D0-5ED372330E7C}" type="presParOf" srcId="{C3870598-C20E-4F4F-8F71-3FA256ED30CF}" destId="{41FD1703-CF9A-48EE-AC02-8B0413BF2ADF}" srcOrd="1" destOrd="0" presId="urn:microsoft.com/office/officeart/2005/8/layout/hList1"/>
    <dgm:cxn modelId="{B5278C44-7E08-4766-8212-8147F24C57F3}" type="presParOf" srcId="{8B67902E-0B2A-4A79-9B59-F59DA7A71D3C}" destId="{7FC0AFE3-13CB-40BB-8286-D801277E6F73}" srcOrd="1" destOrd="0" presId="urn:microsoft.com/office/officeart/2005/8/layout/hList1"/>
    <dgm:cxn modelId="{8D70AB3C-448A-4C69-96AA-68AFB20613AB}" type="presParOf" srcId="{8B67902E-0B2A-4A79-9B59-F59DA7A71D3C}" destId="{9EA66A61-5702-4A60-A31E-1F1A6BC67385}" srcOrd="2" destOrd="0" presId="urn:microsoft.com/office/officeart/2005/8/layout/hList1"/>
    <dgm:cxn modelId="{3A69764F-15D7-4AA3-B1D8-9B64628BF7DC}" type="presParOf" srcId="{9EA66A61-5702-4A60-A31E-1F1A6BC67385}" destId="{12D1A7BB-CA9B-47EE-B193-3DC0E074E153}" srcOrd="0" destOrd="0" presId="urn:microsoft.com/office/officeart/2005/8/layout/hList1"/>
    <dgm:cxn modelId="{6813C9D5-0319-4F54-88A2-2D5BA06C1CF4}" type="presParOf" srcId="{9EA66A61-5702-4A60-A31E-1F1A6BC67385}" destId="{C1C8A9EA-51C6-4562-AC69-EA1888B3E22C}" srcOrd="1" destOrd="0" presId="urn:microsoft.com/office/officeart/2005/8/layout/hList1"/>
    <dgm:cxn modelId="{C6376CEF-DEA7-47E7-A7D5-9A1AED1B8065}" type="presParOf" srcId="{8B67902E-0B2A-4A79-9B59-F59DA7A71D3C}" destId="{5A8CCB39-ABDE-436F-B2CC-02DC773ED47E}" srcOrd="3" destOrd="0" presId="urn:microsoft.com/office/officeart/2005/8/layout/hList1"/>
    <dgm:cxn modelId="{E38479A1-3A30-4BDB-9E81-B8C006FE617E}" type="presParOf" srcId="{8B67902E-0B2A-4A79-9B59-F59DA7A71D3C}" destId="{8BD4D13B-F5A0-4136-902C-C2F7008C57B5}" srcOrd="4" destOrd="0" presId="urn:microsoft.com/office/officeart/2005/8/layout/hList1"/>
    <dgm:cxn modelId="{AEC42C85-8FDF-4350-B34D-A6DB1B9D403C}" type="presParOf" srcId="{8BD4D13B-F5A0-4136-902C-C2F7008C57B5}" destId="{CA7A0C45-E308-4FB2-8D83-089F426B04E7}" srcOrd="0" destOrd="0" presId="urn:microsoft.com/office/officeart/2005/8/layout/hList1"/>
    <dgm:cxn modelId="{79925618-6394-4C15-BB14-EEF9F7F78537}" type="presParOf" srcId="{8BD4D13B-F5A0-4136-902C-C2F7008C57B5}" destId="{F1108901-1D23-4FD6-8EDE-513A413B93EA}" srcOrd="1" destOrd="0" presId="urn:microsoft.com/office/officeart/2005/8/layout/hList1"/>
    <dgm:cxn modelId="{5DE7CA62-0E5F-4487-B43E-02E1E9B28BA2}" type="presParOf" srcId="{8B67902E-0B2A-4A79-9B59-F59DA7A71D3C}" destId="{92F34809-6069-4289-A127-95E4179B81A6}" srcOrd="5" destOrd="0" presId="urn:microsoft.com/office/officeart/2005/8/layout/hList1"/>
    <dgm:cxn modelId="{811E19AC-BD73-4A0B-AAA9-A052EBB7E28D}" type="presParOf" srcId="{8B67902E-0B2A-4A79-9B59-F59DA7A71D3C}" destId="{CFCB9974-5BDD-4B82-A225-97D32C683D4D}" srcOrd="6" destOrd="0" presId="urn:microsoft.com/office/officeart/2005/8/layout/hList1"/>
    <dgm:cxn modelId="{CB9AD239-573B-4268-ADDE-DE4C6D33303B}" type="presParOf" srcId="{CFCB9974-5BDD-4B82-A225-97D32C683D4D}" destId="{1AB420D4-8C2F-44EA-9691-1E3D912D7F09}" srcOrd="0" destOrd="0" presId="urn:microsoft.com/office/officeart/2005/8/layout/hList1"/>
    <dgm:cxn modelId="{7D4FA638-A268-4722-B6BE-A658E2233C7A}" type="presParOf" srcId="{CFCB9974-5BDD-4B82-A225-97D32C683D4D}" destId="{FD2D6980-6FC9-4424-8972-D11654256F2C}" srcOrd="1" destOrd="0" presId="urn:microsoft.com/office/officeart/2005/8/layout/hList1"/>
    <dgm:cxn modelId="{D4AA3CD9-3AC3-4980-A88F-A9CBE2041383}" type="presParOf" srcId="{8B67902E-0B2A-4A79-9B59-F59DA7A71D3C}" destId="{EC7ED627-9AC0-4A36-8993-8BA5CA75EFB7}" srcOrd="7" destOrd="0" presId="urn:microsoft.com/office/officeart/2005/8/layout/hList1"/>
    <dgm:cxn modelId="{9F85B2AA-637A-4B41-B8E7-B881163DD0FA}" type="presParOf" srcId="{8B67902E-0B2A-4A79-9B59-F59DA7A71D3C}" destId="{C90DD209-F408-4301-96DB-46853168FC29}" srcOrd="8" destOrd="0" presId="urn:microsoft.com/office/officeart/2005/8/layout/hList1"/>
    <dgm:cxn modelId="{3634AE1D-F6C5-4AE9-A039-2C07593033D7}" type="presParOf" srcId="{C90DD209-F408-4301-96DB-46853168FC29}" destId="{798AF4EA-3790-4D77-9C99-A231C5E0F26D}" srcOrd="0" destOrd="0" presId="urn:microsoft.com/office/officeart/2005/8/layout/hList1"/>
    <dgm:cxn modelId="{82C9D9F2-EBB6-4D55-B72D-45C70856B947}" type="presParOf" srcId="{C90DD209-F408-4301-96DB-46853168FC29}" destId="{505AF57A-026A-4660-99BE-C7C702077FD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FF213-5269-4698-A019-BE76142821D7}">
      <dsp:nvSpPr>
        <dsp:cNvPr id="0" name=""/>
        <dsp:cNvSpPr/>
      </dsp:nvSpPr>
      <dsp:spPr>
        <a:xfrm>
          <a:off x="12362" y="2937123"/>
          <a:ext cx="1535389" cy="5394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b="1" kern="1200" dirty="0">
              <a:latin typeface="Segoe UI"/>
              <a:cs typeface="Segoe UI"/>
            </a:rPr>
            <a:t>Skalierbarkeit &amp; Flexibilität</a:t>
          </a:r>
        </a:p>
      </dsp:txBody>
      <dsp:txXfrm>
        <a:off x="12362" y="2937123"/>
        <a:ext cx="1535389" cy="539406"/>
      </dsp:txXfrm>
    </dsp:sp>
    <dsp:sp modelId="{41FD1703-CF9A-48EE-AC02-8B0413BF2ADF}">
      <dsp:nvSpPr>
        <dsp:cNvPr id="0" name=""/>
        <dsp:cNvSpPr/>
      </dsp:nvSpPr>
      <dsp:spPr>
        <a:xfrm>
          <a:off x="12362" y="3476529"/>
          <a:ext cx="1535389" cy="15934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b="0" kern="1200" dirty="0">
              <a:latin typeface="Segoe UI"/>
              <a:cs typeface="Segoe UI"/>
            </a:rPr>
            <a:t>Ressourcen lassen sich je nach Bedarf anpassen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b="0" kern="1200" dirty="0">
              <a:latin typeface="Segoe UI"/>
              <a:cs typeface="Segoe UI"/>
            </a:rPr>
            <a:t>Ideal für wachsende Unternehmen</a:t>
          </a:r>
        </a:p>
      </dsp:txBody>
      <dsp:txXfrm>
        <a:off x="12362" y="3476529"/>
        <a:ext cx="1535389" cy="1593400"/>
      </dsp:txXfrm>
    </dsp:sp>
    <dsp:sp modelId="{12D1A7BB-CA9B-47EE-B193-3DC0E074E153}">
      <dsp:nvSpPr>
        <dsp:cNvPr id="0" name=""/>
        <dsp:cNvSpPr/>
      </dsp:nvSpPr>
      <dsp:spPr>
        <a:xfrm>
          <a:off x="1762706" y="2937123"/>
          <a:ext cx="1535389" cy="539406"/>
        </a:xfrm>
        <a:prstGeom prst="rect">
          <a:avLst/>
        </a:prstGeom>
        <a:solidFill>
          <a:schemeClr val="accent3">
            <a:hueOff val="2812566"/>
            <a:satOff val="-4220"/>
            <a:lumOff val="-686"/>
            <a:alphaOff val="0"/>
          </a:schemeClr>
        </a:solidFill>
        <a:ln w="25400" cap="flat" cmpd="sng" algn="ctr">
          <a:solidFill>
            <a:schemeClr val="accent3">
              <a:hueOff val="2812566"/>
              <a:satOff val="-4220"/>
              <a:lumOff val="-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b="1" kern="1200" dirty="0">
              <a:latin typeface="Segoe UI"/>
              <a:cs typeface="Segoe UI"/>
            </a:rPr>
            <a:t>Kostenersparnis</a:t>
          </a:r>
        </a:p>
      </dsp:txBody>
      <dsp:txXfrm>
        <a:off x="1762706" y="2937123"/>
        <a:ext cx="1535389" cy="539406"/>
      </dsp:txXfrm>
    </dsp:sp>
    <dsp:sp modelId="{C1C8A9EA-51C6-4562-AC69-EA1888B3E22C}">
      <dsp:nvSpPr>
        <dsp:cNvPr id="0" name=""/>
        <dsp:cNvSpPr/>
      </dsp:nvSpPr>
      <dsp:spPr>
        <a:xfrm>
          <a:off x="1762706" y="3476529"/>
          <a:ext cx="1535389" cy="1593400"/>
        </a:xfrm>
        <a:prstGeom prst="rect">
          <a:avLst/>
        </a:prstGeom>
        <a:solidFill>
          <a:schemeClr val="accent3">
            <a:tint val="40000"/>
            <a:alpha val="90000"/>
            <a:hueOff val="2679212"/>
            <a:satOff val="-3448"/>
            <a:lumOff val="-269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2679212"/>
              <a:satOff val="-3448"/>
              <a:lumOff val="-2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Keine Investition in lokale Hard-/Software &amp; Wartung</a:t>
          </a:r>
          <a:endParaRPr lang="de-DE" sz="1000" kern="1200" dirty="0">
            <a:latin typeface="Segoe UI"/>
            <a:cs typeface="Segoe UI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Einsparungsmöglichkeiten wegen wenigerem IT-Aufwand, einfacher Implementierung</a:t>
          </a:r>
        </a:p>
      </dsp:txBody>
      <dsp:txXfrm>
        <a:off x="1762706" y="3476529"/>
        <a:ext cx="1535389" cy="1593400"/>
      </dsp:txXfrm>
    </dsp:sp>
    <dsp:sp modelId="{CA7A0C45-E308-4FB2-8D83-089F426B04E7}">
      <dsp:nvSpPr>
        <dsp:cNvPr id="0" name=""/>
        <dsp:cNvSpPr/>
      </dsp:nvSpPr>
      <dsp:spPr>
        <a:xfrm>
          <a:off x="3513051" y="2937123"/>
          <a:ext cx="1535389" cy="539406"/>
        </a:xfrm>
        <a:prstGeom prst="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b="1" kern="1200" dirty="0">
              <a:latin typeface="Segoe UI"/>
              <a:cs typeface="Segoe UI"/>
            </a:rPr>
            <a:t>Einfache Zusammenarbeit &amp; Datenzugriff</a:t>
          </a:r>
        </a:p>
      </dsp:txBody>
      <dsp:txXfrm>
        <a:off x="3513051" y="2937123"/>
        <a:ext cx="1535389" cy="539406"/>
      </dsp:txXfrm>
    </dsp:sp>
    <dsp:sp modelId="{F1108901-1D23-4FD6-8EDE-513A413B93EA}">
      <dsp:nvSpPr>
        <dsp:cNvPr id="0" name=""/>
        <dsp:cNvSpPr/>
      </dsp:nvSpPr>
      <dsp:spPr>
        <a:xfrm>
          <a:off x="3513051" y="3476529"/>
          <a:ext cx="1535389" cy="1593400"/>
        </a:xfrm>
        <a:prstGeom prst="rect">
          <a:avLst/>
        </a:prstGeom>
        <a:solidFill>
          <a:schemeClr val="accent3">
            <a:tint val="40000"/>
            <a:alpha val="90000"/>
            <a:hueOff val="5358425"/>
            <a:satOff val="-6896"/>
            <a:lumOff val="-537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5358425"/>
              <a:satOff val="-6896"/>
              <a:lumOff val="-5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Jederzeit &amp; ortsunabhängiger Datenzugriff für viele Personen</a:t>
          </a:r>
          <a:endParaRPr lang="de-DE" sz="1000" kern="1200" dirty="0">
            <a:latin typeface="Segoe UI"/>
            <a:cs typeface="Segoe UI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Gute Geschäftseinblicke &amp; Zusammenarbeit zwischen Abteilungen dank zentraler Daten</a:t>
          </a:r>
        </a:p>
      </dsp:txBody>
      <dsp:txXfrm>
        <a:off x="3513051" y="3476529"/>
        <a:ext cx="1535389" cy="1593400"/>
      </dsp:txXfrm>
    </dsp:sp>
    <dsp:sp modelId="{1AB420D4-8C2F-44EA-9691-1E3D912D7F09}">
      <dsp:nvSpPr>
        <dsp:cNvPr id="0" name=""/>
        <dsp:cNvSpPr/>
      </dsp:nvSpPr>
      <dsp:spPr>
        <a:xfrm>
          <a:off x="5263395" y="2937123"/>
          <a:ext cx="1535389" cy="539406"/>
        </a:xfrm>
        <a:prstGeom prst="rect">
          <a:avLst/>
        </a:prstGeom>
        <a:solidFill>
          <a:schemeClr val="accent3">
            <a:hueOff val="8437698"/>
            <a:satOff val="-12660"/>
            <a:lumOff val="-2059"/>
            <a:alphaOff val="0"/>
          </a:schemeClr>
        </a:solidFill>
        <a:ln w="25400" cap="flat" cmpd="sng" algn="ctr">
          <a:solidFill>
            <a:schemeClr val="accent3">
              <a:hueOff val="8437698"/>
              <a:satOff val="-12660"/>
              <a:lumOff val="-2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b="1" kern="1200" dirty="0">
              <a:latin typeface="Segoe UI"/>
              <a:cs typeface="Segoe UI"/>
            </a:rPr>
            <a:t>Schnelle </a:t>
          </a:r>
          <a:r>
            <a:rPr lang="de-DE" sz="1000" b="1" kern="1200" dirty="0">
              <a:latin typeface="Segoe UI"/>
              <a:ea typeface="Calibri"/>
              <a:cs typeface="Calibri"/>
            </a:rPr>
            <a:t>Datenbearbeitung</a:t>
          </a:r>
        </a:p>
      </dsp:txBody>
      <dsp:txXfrm>
        <a:off x="5263395" y="2937123"/>
        <a:ext cx="1535389" cy="539406"/>
      </dsp:txXfrm>
    </dsp:sp>
    <dsp:sp modelId="{FD2D6980-6FC9-4424-8972-D11654256F2C}">
      <dsp:nvSpPr>
        <dsp:cNvPr id="0" name=""/>
        <dsp:cNvSpPr/>
      </dsp:nvSpPr>
      <dsp:spPr>
        <a:xfrm>
          <a:off x="5263395" y="3476529"/>
          <a:ext cx="1535389" cy="1593400"/>
        </a:xfrm>
        <a:prstGeom prst="rect">
          <a:avLst/>
        </a:prstGeom>
        <a:solidFill>
          <a:schemeClr val="accent3">
            <a:tint val="40000"/>
            <a:alpha val="90000"/>
            <a:hueOff val="8037638"/>
            <a:satOff val="-10345"/>
            <a:lumOff val="-806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8037638"/>
              <a:satOff val="-10345"/>
              <a:lumOff val="-8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Echtzeitdaten aus mehreren Quellen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Bearbeitung komplexer Daten und Analysen beschleunigen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Automatisierte Prognosen, Budgetierung und Reports erstellen</a:t>
          </a:r>
        </a:p>
      </dsp:txBody>
      <dsp:txXfrm>
        <a:off x="5263395" y="3476529"/>
        <a:ext cx="1535389" cy="1593400"/>
      </dsp:txXfrm>
    </dsp:sp>
    <dsp:sp modelId="{798AF4EA-3790-4D77-9C99-A231C5E0F26D}">
      <dsp:nvSpPr>
        <dsp:cNvPr id="0" name=""/>
        <dsp:cNvSpPr/>
      </dsp:nvSpPr>
      <dsp:spPr>
        <a:xfrm>
          <a:off x="7013739" y="2937123"/>
          <a:ext cx="1535389" cy="539406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b="1" kern="1200" dirty="0">
              <a:latin typeface="Segoe UI"/>
              <a:cs typeface="Segoe UI"/>
            </a:rPr>
            <a:t>Stärkere Integration mit anderen Cloud-Diensten</a:t>
          </a:r>
        </a:p>
      </dsp:txBody>
      <dsp:txXfrm>
        <a:off x="7013739" y="2937123"/>
        <a:ext cx="1535389" cy="539406"/>
      </dsp:txXfrm>
    </dsp:sp>
    <dsp:sp modelId="{505AF57A-026A-4660-99BE-C7C702077FD9}">
      <dsp:nvSpPr>
        <dsp:cNvPr id="0" name=""/>
        <dsp:cNvSpPr/>
      </dsp:nvSpPr>
      <dsp:spPr>
        <a:xfrm>
          <a:off x="7013739" y="3476529"/>
          <a:ext cx="1535389" cy="1593400"/>
        </a:xfrm>
        <a:prstGeom prst="rect">
          <a:avLst/>
        </a:prstGeom>
        <a:solidFill>
          <a:schemeClr val="accent3">
            <a:tint val="40000"/>
            <a:alpha val="90000"/>
            <a:hueOff val="10716850"/>
            <a:satOff val="-13793"/>
            <a:lumOff val="-1075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10716850"/>
              <a:satOff val="-13793"/>
              <a:lumOff val="-10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Daten aus lokalen und Cloud-Quellen zu kombinieren</a:t>
          </a:r>
          <a:endParaRPr lang="de-DE" sz="1000" kern="1200" dirty="0">
            <a:latin typeface="Segoe UI"/>
            <a:cs typeface="Segoe UI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Daten mit Echtzeit- und webbasierten Erkenntnissen zu erweitern</a:t>
          </a:r>
        </a:p>
        <a:p>
          <a:pPr marL="57150" lvl="1" indent="-57150" algn="l" defTabSz="466725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de-DE" sz="1050" kern="1200" dirty="0">
            <a:latin typeface="Segoe UI"/>
            <a:ea typeface="Calibri"/>
            <a:cs typeface="Calibri"/>
          </a:endParaRPr>
        </a:p>
      </dsp:txBody>
      <dsp:txXfrm>
        <a:off x="7013739" y="3476529"/>
        <a:ext cx="1535389" cy="1593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4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1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36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5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4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2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40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83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9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7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7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288B6-5756-4768-A292-2144A8342D0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2EB8C-9F6C-4960-9888-078CD78B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7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appinventiv.com/blog/cloud-business-intelligence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s://www.tableau.com/learn/articles/business-intelligence-examples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hyperlink" Target="https://aws.amazon.com/de/solutions/case-studies/innovators/netflix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11" Type="http://schemas.openxmlformats.org/officeDocument/2006/relationships/hyperlink" Target="https://www.dhl.com/discover/en-kh/ship-with-dhl/start-shipping/dhl-express-cold-chain-technologies" TargetMode="Externa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19.svg"/><Relationship Id="rId3" Type="http://schemas.openxmlformats.org/officeDocument/2006/relationships/image" Target="../media/image109.svg"/><Relationship Id="rId7" Type="http://schemas.openxmlformats.org/officeDocument/2006/relationships/image" Target="../media/image113.svg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17.svg"/><Relationship Id="rId5" Type="http://schemas.openxmlformats.org/officeDocument/2006/relationships/image" Target="../media/image111.sv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outlook/tmo/software/enterprise-software/business-intelligence-software/worldwide#revenue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29DEE5-3E45-4DB7-C70A-75B5B6F6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121" y="99424"/>
            <a:ext cx="8018449" cy="814976"/>
          </a:xfrm>
        </p:spPr>
        <p:txBody>
          <a:bodyPr>
            <a:normAutofit/>
          </a:bodyPr>
          <a:lstStyle/>
          <a:p>
            <a:r>
              <a:rPr lang="de-DE" sz="3600" b="1" dirty="0">
                <a:latin typeface="Calibri Light"/>
                <a:ea typeface="Calibri Light"/>
                <a:cs typeface="Calibri Light"/>
              </a:rPr>
              <a:t>BUSINESS INTELLIGENCE IN DER CLOUD</a:t>
            </a:r>
            <a:endParaRPr lang="de-DE" sz="3600" b="1" dirty="0"/>
          </a:p>
        </p:txBody>
      </p:sp>
      <p:sp>
        <p:nvSpPr>
          <p:cNvPr id="4" name="Textfeld 3">
            <a:extLst>
              <a:ext uri="{FF2B5EF4-FFF2-40B4-BE49-F238E27FC236}">
                <a16:creationId xmlns="" xmlns:a16="http://schemas.microsoft.com/office/drawing/2014/main" id="{AE7AA639-76EE-2E21-CB79-0FB4A8917339}"/>
              </a:ext>
            </a:extLst>
          </p:cNvPr>
          <p:cNvSpPr txBox="1"/>
          <p:nvPr/>
        </p:nvSpPr>
        <p:spPr>
          <a:xfrm>
            <a:off x="3657600" y="6321251"/>
            <a:ext cx="24053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dirty="0">
                <a:latin typeface="Segoe UI"/>
                <a:cs typeface="Segoe UI"/>
              </a:rPr>
              <a:t>Ngan Vo - 3230727</a:t>
            </a:r>
          </a:p>
        </p:txBody>
      </p:sp>
      <p:pic>
        <p:nvPicPr>
          <p:cNvPr id="1026" name="Picture 2" descr="Data in the Cloud- How Analytics Platforms Are Transforming Business  Intellig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398"/>
            <a:ext cx="8229600" cy="530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48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Screenshot, Schwarz enthält.&#10;&#10;KI-generierte Inhalte können fehlerhaft sein.">
            <a:extLst>
              <a:ext uri="{FF2B5EF4-FFF2-40B4-BE49-F238E27FC236}">
                <a16:creationId xmlns="" xmlns:a16="http://schemas.microsoft.com/office/drawing/2014/main" id="{468EF573-BC03-544B-23B7-8D0A357AF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86" y="828248"/>
            <a:ext cx="8736751" cy="52873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1C5609-03E2-7049-96C7-24A81875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35" y="165246"/>
            <a:ext cx="8244989" cy="6656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sz="3400" b="1" dirty="0">
                <a:latin typeface="Segoe UI"/>
                <a:ea typeface="Calibri Light"/>
                <a:cs typeface="Calibri Light"/>
              </a:rPr>
              <a:t>Einführung von BI in der Cloud</a:t>
            </a:r>
            <a:r>
              <a:rPr lang="de-DE" sz="3400" b="1" dirty="0">
                <a:latin typeface="Segoe UI"/>
                <a:cs typeface="Segoe UI"/>
              </a:rPr>
              <a:t> </a:t>
            </a:r>
            <a:endParaRPr lang="de-DE" sz="3400" dirty="0">
              <a:latin typeface="Segoe UI"/>
              <a:cs typeface="Segoe UI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="" xmlns:a16="http://schemas.microsoft.com/office/drawing/2014/main" id="{28D35578-5B11-CA01-F659-F2B96792D269}"/>
              </a:ext>
            </a:extLst>
          </p:cNvPr>
          <p:cNvSpPr txBox="1"/>
          <p:nvPr/>
        </p:nvSpPr>
        <p:spPr>
          <a:xfrm>
            <a:off x="3338077" y="873515"/>
            <a:ext cx="5434731" cy="52398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Business Intelligence (BI)</a:t>
            </a:r>
            <a:endParaRPr lang="de-DE" sz="1200" b="1" dirty="0">
              <a:solidFill>
                <a:srgbClr val="0070C0"/>
              </a:solidFill>
              <a:latin typeface="Segoe UI"/>
              <a:cs typeface="Segoe UI"/>
            </a:endParaRPr>
          </a:p>
          <a:p>
            <a:pPr marL="628650" lvl="1" indent="-171450">
              <a:buFont typeface="Wingdings"/>
              <a:buChar char="Ø"/>
            </a:pPr>
            <a:r>
              <a:rPr lang="de-DE" sz="1150" dirty="0">
                <a:latin typeface="Segoe UI"/>
                <a:ea typeface="+mn-lt"/>
                <a:cs typeface="+mn-lt"/>
              </a:rPr>
              <a:t>bezeichnet den Prozess, </a:t>
            </a:r>
            <a:r>
              <a:rPr lang="de-DE" sz="1150" b="1" dirty="0">
                <a:latin typeface="Segoe UI"/>
                <a:ea typeface="+mn-lt"/>
                <a:cs typeface="+mn-lt"/>
              </a:rPr>
              <a:t>Daten aus verschiedenen Quellen</a:t>
            </a:r>
            <a:r>
              <a:rPr lang="de-DE" sz="1150" dirty="0">
                <a:latin typeface="Segoe UI"/>
                <a:ea typeface="+mn-lt"/>
                <a:cs typeface="+mn-lt"/>
              </a:rPr>
              <a:t> zu sammeln, zu analysieren und schnell in </a:t>
            </a:r>
            <a:r>
              <a:rPr lang="de-DE" sz="1150" b="1" dirty="0">
                <a:latin typeface="Segoe UI"/>
                <a:ea typeface="+mn-lt"/>
                <a:cs typeface="+mn-lt"/>
              </a:rPr>
              <a:t>nutzbare Informationen</a:t>
            </a:r>
            <a:r>
              <a:rPr lang="de-DE" sz="1150" dirty="0">
                <a:latin typeface="Segoe UI"/>
                <a:ea typeface="+mn-lt"/>
                <a:cs typeface="+mn-lt"/>
              </a:rPr>
              <a:t> umzuwandeln, um </a:t>
            </a:r>
            <a:r>
              <a:rPr lang="de-DE" sz="1150" b="1" dirty="0">
                <a:latin typeface="Segoe UI"/>
                <a:ea typeface="+mn-lt"/>
                <a:cs typeface="+mn-lt"/>
              </a:rPr>
              <a:t>fundierte Entscheidungen zu treffen</a:t>
            </a:r>
            <a:r>
              <a:rPr lang="de-DE" sz="1150" dirty="0">
                <a:latin typeface="Segoe UI"/>
                <a:ea typeface="+mn-lt"/>
                <a:cs typeface="+mn-lt"/>
              </a:rPr>
              <a:t> und </a:t>
            </a:r>
            <a:r>
              <a:rPr lang="de-DE" sz="1150" b="1" dirty="0">
                <a:latin typeface="Segoe UI"/>
                <a:ea typeface="+mn-lt"/>
                <a:cs typeface="+mn-lt"/>
              </a:rPr>
              <a:t>datenbasierte Strategien zu optimieren.</a:t>
            </a:r>
          </a:p>
          <a:p>
            <a:pPr marL="628650" lvl="1" indent="-171450">
              <a:buFont typeface="Wingdings"/>
              <a:buChar char="Ø"/>
            </a:pPr>
            <a:endParaRPr lang="de-DE" sz="1150" b="1" dirty="0">
              <a:latin typeface="Segoe UI"/>
              <a:ea typeface="+mn-lt"/>
              <a:cs typeface="+mn-lt"/>
            </a:endParaRPr>
          </a:p>
          <a:p>
            <a:pPr marL="628650" lvl="1" indent="-171450">
              <a:buFont typeface="Wingdings"/>
              <a:buChar char="Ø"/>
            </a:pPr>
            <a:r>
              <a:rPr lang="de-DE" sz="1150" b="1" dirty="0">
                <a:latin typeface="Segoe UI"/>
                <a:ea typeface="+mn-lt"/>
                <a:cs typeface="+mn-lt"/>
              </a:rPr>
              <a:t>Hauptkomponenten von BI:</a:t>
            </a:r>
          </a:p>
          <a:p>
            <a:pPr marL="1200150" lvl="2" indent="-285750">
              <a:buFont typeface="Arial"/>
              <a:buChar char="•"/>
            </a:pPr>
            <a:r>
              <a:rPr lang="en-US" sz="1150" b="1" dirty="0" err="1">
                <a:latin typeface="Segoe UI"/>
                <a:ea typeface="+mn-lt"/>
                <a:cs typeface="+mn-lt"/>
              </a:rPr>
              <a:t>Datenerfassung</a:t>
            </a:r>
            <a:r>
              <a:rPr lang="en-US" sz="1150" b="1" dirty="0">
                <a:latin typeface="Segoe UI"/>
                <a:ea typeface="+mn-lt"/>
                <a:cs typeface="+mn-lt"/>
              </a:rPr>
              <a:t>: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Sammeln</a:t>
            </a:r>
            <a:r>
              <a:rPr lang="en-US" sz="1150" dirty="0">
                <a:latin typeface="Segoe UI"/>
                <a:ea typeface="+mn-lt"/>
                <a:cs typeface="+mn-lt"/>
              </a:rPr>
              <a:t> von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Daten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aus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verschiedenen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Quellen</a:t>
            </a:r>
            <a:endParaRPr lang="en-US" sz="1150" dirty="0">
              <a:latin typeface="Segoe UI"/>
              <a:cs typeface="Segoe UI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Data Warehousing: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Zentrale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Speicherung</a:t>
            </a:r>
            <a:r>
              <a:rPr lang="en-US" sz="1150" dirty="0">
                <a:latin typeface="Segoe UI"/>
                <a:ea typeface="+mn-lt"/>
                <a:cs typeface="+mn-lt"/>
              </a:rPr>
              <a:t> und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Aufbereitung</a:t>
            </a:r>
            <a:r>
              <a:rPr lang="en-US" sz="1150" dirty="0">
                <a:latin typeface="Segoe UI"/>
                <a:ea typeface="+mn-lt"/>
                <a:cs typeface="+mn-lt"/>
              </a:rPr>
              <a:t> der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Daten</a:t>
            </a:r>
            <a:endParaRPr lang="en-US" sz="1150" dirty="0">
              <a:latin typeface="Segoe UI"/>
              <a:cs typeface="Segoe UI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 err="1">
                <a:latin typeface="Segoe UI"/>
                <a:ea typeface="+mn-lt"/>
                <a:cs typeface="+mn-lt"/>
              </a:rPr>
              <a:t>Analytik</a:t>
            </a:r>
            <a:r>
              <a:rPr lang="en-US" sz="1150" b="1" dirty="0">
                <a:latin typeface="Segoe UI"/>
                <a:ea typeface="+mn-lt"/>
                <a:cs typeface="+mn-lt"/>
              </a:rPr>
              <a:t>: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Auswertung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zur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Gewinnung</a:t>
            </a:r>
            <a:r>
              <a:rPr lang="en-US" sz="1150" dirty="0">
                <a:latin typeface="Segoe UI"/>
                <a:ea typeface="+mn-lt"/>
                <a:cs typeface="+mn-lt"/>
              </a:rPr>
              <a:t> von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Erkenntnissen</a:t>
            </a:r>
            <a:endParaRPr lang="en-US" sz="1150" dirty="0">
              <a:latin typeface="Segoe UI"/>
              <a:cs typeface="Segoe UI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 err="1">
                <a:latin typeface="Segoe UI"/>
                <a:ea typeface="+mn-lt"/>
                <a:cs typeface="+mn-lt"/>
              </a:rPr>
              <a:t>Datenvisualisierung</a:t>
            </a:r>
            <a:r>
              <a:rPr lang="en-US" sz="1150" b="1" dirty="0">
                <a:latin typeface="Segoe UI"/>
                <a:ea typeface="+mn-lt"/>
                <a:cs typeface="+mn-lt"/>
              </a:rPr>
              <a:t>: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Darstellung</a:t>
            </a:r>
            <a:r>
              <a:rPr lang="en-US" sz="1150" dirty="0">
                <a:latin typeface="Segoe UI"/>
                <a:ea typeface="+mn-lt"/>
                <a:cs typeface="+mn-lt"/>
              </a:rPr>
              <a:t> der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Ergebnisse</a:t>
            </a:r>
            <a:r>
              <a:rPr lang="en-US" sz="1150" dirty="0">
                <a:latin typeface="Segoe UI"/>
                <a:ea typeface="+mn-lt"/>
                <a:cs typeface="+mn-lt"/>
              </a:rPr>
              <a:t> in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verständlicher</a:t>
            </a:r>
            <a:r>
              <a:rPr lang="en-US" sz="1150" dirty="0">
                <a:latin typeface="Segoe UI"/>
                <a:ea typeface="+mn-lt"/>
                <a:cs typeface="+mn-lt"/>
              </a:rPr>
              <a:t> Form (z. B. Dashboards)</a:t>
            </a:r>
            <a:endParaRPr lang="en-US" sz="1150" dirty="0">
              <a:latin typeface="Segoe UI"/>
              <a:cs typeface="Segoe UI"/>
            </a:endParaRPr>
          </a:p>
          <a:p>
            <a:pPr lvl="1"/>
            <a:endParaRPr lang="en-US" sz="1150" dirty="0">
              <a:latin typeface="Segoe UI"/>
              <a:cs typeface="Segoe UI"/>
            </a:endParaRPr>
          </a:p>
          <a:p>
            <a:pPr lvl="1"/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Cloud BI</a:t>
            </a:r>
          </a:p>
          <a:p>
            <a:pPr marL="628650" lvl="1" indent="-171450">
              <a:buFont typeface="Wingdings"/>
              <a:buChar char="Ø"/>
            </a:pPr>
            <a:r>
              <a:rPr lang="en-US" sz="1150" dirty="0" err="1">
                <a:latin typeface="Segoe UI"/>
                <a:ea typeface="+mn-lt"/>
                <a:cs typeface="+mn-lt"/>
              </a:rPr>
              <a:t>bezeichnet</a:t>
            </a:r>
            <a:r>
              <a:rPr lang="en-US" sz="1150" dirty="0">
                <a:latin typeface="Segoe UI"/>
                <a:ea typeface="+mn-lt"/>
                <a:cs typeface="+mn-lt"/>
              </a:rPr>
              <a:t> die </a:t>
            </a:r>
            <a:r>
              <a:rPr lang="en-US" sz="1150" b="1" dirty="0" err="1">
                <a:latin typeface="Segoe UI"/>
                <a:ea typeface="+mn-lt"/>
                <a:cs typeface="+mn-lt"/>
              </a:rPr>
              <a:t>Bereitstellung</a:t>
            </a:r>
            <a:r>
              <a:rPr lang="en-US" sz="1150" b="1" dirty="0">
                <a:latin typeface="Segoe UI"/>
                <a:ea typeface="+mn-lt"/>
                <a:cs typeface="+mn-lt"/>
              </a:rPr>
              <a:t> von BI-Tools </a:t>
            </a:r>
            <a:r>
              <a:rPr lang="en-US" sz="1150" dirty="0">
                <a:latin typeface="Segoe UI"/>
                <a:ea typeface="+mn-lt"/>
                <a:cs typeface="+mn-lt"/>
              </a:rPr>
              <a:t>und </a:t>
            </a:r>
            <a:r>
              <a:rPr lang="en-US" sz="1150" b="1" dirty="0">
                <a:latin typeface="Segoe UI"/>
                <a:ea typeface="+mn-lt"/>
                <a:cs typeface="+mn-lt"/>
              </a:rPr>
              <a:t>-</a:t>
            </a:r>
            <a:r>
              <a:rPr lang="en-US" sz="1150" b="1" dirty="0" err="1">
                <a:latin typeface="Segoe UI"/>
                <a:ea typeface="+mn-lt"/>
                <a:cs typeface="+mn-lt"/>
              </a:rPr>
              <a:t>Diensten</a:t>
            </a:r>
            <a:r>
              <a:rPr lang="en-US" sz="1150" b="1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über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+mn-lt"/>
              </a:rPr>
              <a:t>virtuelle</a:t>
            </a:r>
            <a:r>
              <a:rPr lang="en-US" sz="1150" b="1" dirty="0">
                <a:latin typeface="Segoe UI"/>
                <a:ea typeface="+mn-lt"/>
                <a:cs typeface="+mn-lt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+mn-lt"/>
              </a:rPr>
              <a:t>Netzwerke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wie</a:t>
            </a:r>
            <a:r>
              <a:rPr lang="en-US" sz="1150" dirty="0">
                <a:latin typeface="Segoe UI"/>
                <a:ea typeface="+mn-lt"/>
                <a:cs typeface="+mn-lt"/>
              </a:rPr>
              <a:t> das Internet – also auf </a:t>
            </a:r>
            <a:r>
              <a:rPr lang="en-US" sz="1150" b="1" dirty="0">
                <a:latin typeface="Segoe UI"/>
                <a:ea typeface="+mn-lt"/>
                <a:cs typeface="+mn-lt"/>
              </a:rPr>
              <a:t>Basis von Cloud-Computing-</a:t>
            </a:r>
            <a:r>
              <a:rPr lang="en-US" sz="1150" b="1" dirty="0" err="1">
                <a:latin typeface="Segoe UI"/>
                <a:ea typeface="+mn-lt"/>
                <a:cs typeface="+mn-lt"/>
              </a:rPr>
              <a:t>Plattformen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wie</a:t>
            </a:r>
            <a:r>
              <a:rPr lang="en-US" sz="1150" dirty="0">
                <a:latin typeface="Segoe UI"/>
                <a:ea typeface="+mn-lt"/>
                <a:cs typeface="+mn-lt"/>
              </a:rPr>
              <a:t> Amazon Web Services, Microsoft Azure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oder</a:t>
            </a:r>
            <a:r>
              <a:rPr lang="en-US" sz="1150" dirty="0">
                <a:latin typeface="Segoe UI"/>
                <a:ea typeface="+mn-lt"/>
                <a:cs typeface="+mn-lt"/>
              </a:rPr>
              <a:t> Google Cloud. </a:t>
            </a:r>
            <a:endParaRPr lang="en-US" sz="1150" dirty="0">
              <a:latin typeface="Segoe UI"/>
              <a:ea typeface="+mn-lt"/>
              <a:cs typeface="Segoe UI"/>
            </a:endParaRPr>
          </a:p>
          <a:p>
            <a:pPr marL="628650" lvl="1" indent="-171450">
              <a:buFont typeface="Wingdings"/>
              <a:buChar char="Ø"/>
            </a:pPr>
            <a:endParaRPr lang="en-US" sz="1150" dirty="0">
              <a:latin typeface="Segoe UI"/>
              <a:ea typeface="+mn-lt"/>
              <a:cs typeface="Segoe UI"/>
            </a:endParaRPr>
          </a:p>
          <a:p>
            <a:pPr marL="628650" lvl="1" indent="-171450">
              <a:buFont typeface="Wingdings"/>
              <a:buChar char="Ø"/>
            </a:pPr>
            <a:r>
              <a:rPr lang="de-DE" sz="1150" b="1" dirty="0">
                <a:latin typeface="Segoe UI"/>
                <a:ea typeface="+mn-lt"/>
                <a:cs typeface="Segoe UI"/>
              </a:rPr>
              <a:t>Hauptkomponenten von </a:t>
            </a:r>
            <a:r>
              <a:rPr lang="en-US" sz="1150" b="1" dirty="0">
                <a:latin typeface="Segoe UI"/>
                <a:ea typeface="+mn-lt"/>
                <a:cs typeface="+mn-lt"/>
              </a:rPr>
              <a:t>Cloud BI:</a:t>
            </a:r>
            <a:endParaRPr lang="en-US" sz="1150" b="1" dirty="0">
              <a:latin typeface="Segoe UI"/>
              <a:ea typeface="+mn-lt"/>
              <a:cs typeface="Segoe UI"/>
            </a:endParaRPr>
          </a:p>
          <a:p>
            <a:pPr marL="1085850" lvl="2" indent="-1714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Cloud-Based Dashboards: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Interaktive</a:t>
            </a:r>
            <a:r>
              <a:rPr lang="en-US" sz="1150" dirty="0">
                <a:latin typeface="Segoe UI"/>
                <a:ea typeface="+mn-lt"/>
                <a:cs typeface="+mn-lt"/>
              </a:rPr>
              <a:t> Dashboards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direkt</a:t>
            </a:r>
            <a:r>
              <a:rPr lang="en-US" sz="1150" dirty="0">
                <a:latin typeface="Segoe UI"/>
                <a:ea typeface="+mn-lt"/>
                <a:cs typeface="+mn-lt"/>
              </a:rPr>
              <a:t> in Cloud </a:t>
            </a:r>
            <a:endParaRPr lang="en-US" sz="1150" dirty="0">
              <a:latin typeface="Segoe UI"/>
              <a:cs typeface="Segoe UI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Data Visualization</a:t>
            </a:r>
            <a:r>
              <a:rPr lang="en-US" sz="1150" dirty="0">
                <a:latin typeface="Segoe UI"/>
                <a:ea typeface="+mn-lt"/>
                <a:cs typeface="+mn-lt"/>
              </a:rPr>
              <a:t>: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Klare</a:t>
            </a:r>
            <a:r>
              <a:rPr lang="en-US" sz="1150" dirty="0">
                <a:latin typeface="Segoe UI"/>
                <a:ea typeface="+mn-lt"/>
                <a:cs typeface="+mn-lt"/>
              </a:rPr>
              <a:t>,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verständliche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Darstellung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komplexer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Daten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</a:p>
          <a:p>
            <a:pPr marL="1200150" lvl="2" indent="-2857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Self-Service Analytics: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Eigene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Analysen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ohne</a:t>
            </a:r>
            <a:r>
              <a:rPr lang="en-US" sz="1150" dirty="0">
                <a:latin typeface="Segoe UI"/>
                <a:ea typeface="+mn-lt"/>
                <a:cs typeface="+mn-lt"/>
              </a:rPr>
              <a:t> IT-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Abhängigkeit</a:t>
            </a:r>
            <a:endParaRPr lang="en-US" sz="1150" dirty="0">
              <a:latin typeface="Segoe UI"/>
              <a:ea typeface="+mn-lt"/>
              <a:cs typeface="+mn-lt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Predictive Analytics: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Datenbasierte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Zukunftsprognosen</a:t>
            </a:r>
            <a:endParaRPr lang="en-US" sz="1150" dirty="0">
              <a:latin typeface="Segoe UI"/>
              <a:cs typeface="Segoe UI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Embedded Analytics: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Analysen</a:t>
            </a:r>
            <a:r>
              <a:rPr lang="en-US" sz="1150" dirty="0">
                <a:latin typeface="Segoe UI"/>
                <a:ea typeface="+mn-lt"/>
                <a:cs typeface="+mn-lt"/>
              </a:rPr>
              <a:t> in Apps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integriert</a:t>
            </a:r>
            <a:endParaRPr lang="en-US" sz="1150" dirty="0">
              <a:latin typeface="Segoe UI"/>
              <a:cs typeface="Segoe UI"/>
            </a:endParaRPr>
          </a:p>
        </p:txBody>
      </p:sp>
      <p:pic>
        <p:nvPicPr>
          <p:cNvPr id="6" name="Grafik 5" descr="Ein Bild, das Diagramm, Schrift, Design enthält.&#10;&#10;KI-generierte Inhalte können fehlerhaft sein.">
            <a:extLst>
              <a:ext uri="{FF2B5EF4-FFF2-40B4-BE49-F238E27FC236}">
                <a16:creationId xmlns="" xmlns:a16="http://schemas.microsoft.com/office/drawing/2014/main" id="{C2105099-99D3-B618-568B-24222830E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5" y="1117238"/>
            <a:ext cx="3146996" cy="20359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9" name="Grafik 618" descr="Ein Bild, das Screenshot, Kreis, Text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445C6447-7D1A-40ED-F9A3-F52F94784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65" y="3436931"/>
            <a:ext cx="3144497" cy="23192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feld 3">
            <a:extLst>
              <a:ext uri="{FF2B5EF4-FFF2-40B4-BE49-F238E27FC236}">
                <a16:creationId xmlns="" xmlns:a16="http://schemas.microsoft.com/office/drawing/2014/main" id="{CCC473EB-DD29-C5A5-B3BA-8DFB4414DB62}"/>
              </a:ext>
            </a:extLst>
          </p:cNvPr>
          <p:cNvSpPr txBox="1"/>
          <p:nvPr/>
        </p:nvSpPr>
        <p:spPr>
          <a:xfrm>
            <a:off x="498765" y="6223211"/>
            <a:ext cx="33583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200" dirty="0">
                <a:latin typeface="Segoe UI"/>
              </a:rPr>
              <a:t>Quelle: </a:t>
            </a:r>
            <a:r>
              <a:rPr lang="de-DE" sz="1200" u="sng" dirty="0">
                <a:solidFill>
                  <a:srgbClr val="778BA2"/>
                </a:solidFill>
                <a:latin typeface="Segoe UI"/>
                <a:cs typeface="Segoe UI"/>
                <a:hlinkClick r:id="rId5"/>
              </a:rPr>
              <a:t>www.appinventiv.com (2024)</a:t>
            </a:r>
            <a:endParaRPr lang="de-DE" sz="12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4011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rafik 1243" descr="Ein Bild, das Screenshot, Schwarz enthält.&#10;&#10;KI-generierte Inhalte können fehlerhaft sein.">
            <a:extLst>
              <a:ext uri="{FF2B5EF4-FFF2-40B4-BE49-F238E27FC236}">
                <a16:creationId xmlns="" xmlns:a16="http://schemas.microsoft.com/office/drawing/2014/main" id="{F848AC18-C2B6-434D-A5BB-209523FB9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73" y="3148041"/>
            <a:ext cx="8554552" cy="2840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17FE64-F2E6-4CAD-0F39-62483460C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26" y="221878"/>
            <a:ext cx="8615692" cy="706854"/>
          </a:xfrm>
        </p:spPr>
        <p:txBody>
          <a:bodyPr>
            <a:noAutofit/>
          </a:bodyPr>
          <a:lstStyle/>
          <a:p>
            <a:r>
              <a:rPr lang="de-DE" sz="3400" b="1" dirty="0">
                <a:latin typeface="Segoe UI"/>
                <a:ea typeface="+mj-lt"/>
                <a:cs typeface="+mj-lt"/>
              </a:rPr>
              <a:t>Vorteile von Cloud-basiertem BI</a:t>
            </a:r>
            <a:endParaRPr lang="de-DE" sz="3400" b="1" dirty="0">
              <a:latin typeface="Segoe UI"/>
              <a:cs typeface="Segoe UI"/>
            </a:endParaRPr>
          </a:p>
        </p:txBody>
      </p:sp>
      <p:graphicFrame>
        <p:nvGraphicFramePr>
          <p:cNvPr id="4" name="Diagramm 3">
            <a:extLst>
              <a:ext uri="{FF2B5EF4-FFF2-40B4-BE49-F238E27FC236}">
                <a16:creationId xmlns="" xmlns:a16="http://schemas.microsoft.com/office/drawing/2014/main" id="{D52C7F8B-FAC2-6E1C-B85E-756260B896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8127009"/>
              </p:ext>
            </p:extLst>
          </p:nvPr>
        </p:nvGraphicFramePr>
        <p:xfrm>
          <a:off x="291690" y="-2093535"/>
          <a:ext cx="8561492" cy="800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D7C97CC7-75E5-294D-A671-0CB0BD089E16}"/>
              </a:ext>
            </a:extLst>
          </p:cNvPr>
          <p:cNvSpPr txBox="1"/>
          <p:nvPr/>
        </p:nvSpPr>
        <p:spPr>
          <a:xfrm>
            <a:off x="485180" y="3260390"/>
            <a:ext cx="375285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err="1">
                <a:latin typeface="Segoe UI"/>
                <a:cs typeface="Segoe UI"/>
              </a:rPr>
              <a:t>Beispiele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aus</a:t>
            </a:r>
            <a:r>
              <a:rPr lang="en-US" sz="1600" b="1">
                <a:latin typeface="Segoe UI"/>
                <a:cs typeface="Segoe UI"/>
              </a:rPr>
              <a:t> der Praxis: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C881C049-BCB9-4B82-A9C2-D1CF4E7D0C94}"/>
              </a:ext>
            </a:extLst>
          </p:cNvPr>
          <p:cNvSpPr txBox="1"/>
          <p:nvPr/>
        </p:nvSpPr>
        <p:spPr>
          <a:xfrm>
            <a:off x="6052507" y="4180076"/>
            <a:ext cx="2652388" cy="15927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>
                <a:latin typeface="Segoe UI"/>
                <a:ea typeface="+mn-lt"/>
                <a:cs typeface="Segoe UI"/>
              </a:rPr>
              <a:t>HelloFresh </a:t>
            </a:r>
            <a:r>
              <a:rPr lang="en-US" sz="1200" err="1">
                <a:latin typeface="Segoe UI"/>
                <a:ea typeface="+mn-lt"/>
                <a:cs typeface="Segoe UI"/>
              </a:rPr>
              <a:t>nutzt</a:t>
            </a:r>
            <a:r>
              <a:rPr lang="en-US" sz="1200">
                <a:latin typeface="Segoe UI"/>
                <a:ea typeface="+mn-lt"/>
                <a:cs typeface="Segoe UI"/>
              </a:rPr>
              <a:t> Cloud-BI, um sein Marketing-Reporting </a:t>
            </a:r>
            <a:r>
              <a:rPr lang="en-US" sz="1200" err="1">
                <a:latin typeface="Segoe UI"/>
                <a:ea typeface="+mn-lt"/>
                <a:cs typeface="Segoe UI"/>
              </a:rPr>
              <a:t>zu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automatisieren</a:t>
            </a:r>
            <a:r>
              <a:rPr lang="en-US" sz="1200">
                <a:latin typeface="Segoe UI"/>
                <a:ea typeface="+mn-lt"/>
                <a:cs typeface="Segoe UI"/>
              </a:rPr>
              <a:t>, </a:t>
            </a:r>
            <a:r>
              <a:rPr lang="en-US" sz="1200" err="1">
                <a:latin typeface="Segoe UI"/>
                <a:ea typeface="+mn-lt"/>
                <a:cs typeface="Segoe UI"/>
              </a:rPr>
              <a:t>tägliche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manuelle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Aufwände</a:t>
            </a:r>
            <a:r>
              <a:rPr lang="en-US" sz="1200">
                <a:latin typeface="Segoe UI"/>
                <a:ea typeface="+mn-lt"/>
                <a:cs typeface="Segoe UI"/>
              </a:rPr>
              <a:t> (ca. 10-20 Std.) </a:t>
            </a:r>
            <a:r>
              <a:rPr lang="en-US" sz="1200" err="1">
                <a:latin typeface="Segoe UI"/>
                <a:ea typeface="+mn-lt"/>
                <a:cs typeface="Segoe UI"/>
              </a:rPr>
              <a:t>zu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reduzieren</a:t>
            </a:r>
            <a:r>
              <a:rPr lang="en-US" sz="1200">
                <a:latin typeface="Segoe UI"/>
                <a:ea typeface="+mn-lt"/>
                <a:cs typeface="Segoe UI"/>
              </a:rPr>
              <a:t>, und </a:t>
            </a:r>
            <a:r>
              <a:rPr lang="en-US" sz="1200" err="1">
                <a:latin typeface="Segoe UI"/>
                <a:ea typeface="+mn-lt"/>
                <a:cs typeface="Segoe UI"/>
              </a:rPr>
              <a:t>somit</a:t>
            </a:r>
            <a:r>
              <a:rPr lang="en-US" sz="1200">
                <a:latin typeface="Segoe UI"/>
                <a:ea typeface="+mn-lt"/>
                <a:cs typeface="Segoe UI"/>
              </a:rPr>
              <a:t> regional </a:t>
            </a:r>
            <a:r>
              <a:rPr lang="en-US" sz="1200" err="1">
                <a:latin typeface="Segoe UI"/>
                <a:ea typeface="+mn-lt"/>
                <a:cs typeface="Segoe UI"/>
              </a:rPr>
              <a:t>individualisierte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Marketingkampagnen</a:t>
            </a:r>
            <a:r>
              <a:rPr lang="en-US" sz="1200">
                <a:latin typeface="Segoe UI"/>
                <a:ea typeface="+mn-lt"/>
                <a:cs typeface="Segoe UI"/>
              </a:rPr>
              <a:t> auf Basis von </a:t>
            </a:r>
            <a:r>
              <a:rPr lang="en-US" sz="1200" err="1">
                <a:latin typeface="Segoe UI"/>
                <a:ea typeface="+mn-lt"/>
                <a:cs typeface="Segoe UI"/>
              </a:rPr>
              <a:t>Echtzeit-Kundendaten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zu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erstellen</a:t>
            </a:r>
            <a:r>
              <a:rPr lang="en-US" sz="1200">
                <a:latin typeface="Segoe UI"/>
                <a:ea typeface="+mn-lt"/>
                <a:cs typeface="Segoe UI"/>
              </a:rPr>
              <a:t>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C8547B30-1F05-8068-B283-93DFBE5F8A31}"/>
              </a:ext>
            </a:extLst>
          </p:cNvPr>
          <p:cNvSpPr txBox="1"/>
          <p:nvPr/>
        </p:nvSpPr>
        <p:spPr>
          <a:xfrm>
            <a:off x="3306493" y="4165902"/>
            <a:ext cx="2540219" cy="15927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err="1">
                <a:latin typeface="Segoe UI"/>
                <a:ea typeface="+mn-lt"/>
                <a:cs typeface="Segoe UI"/>
              </a:rPr>
              <a:t>Anhand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cloudbasierter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Zuschauer-daten</a:t>
            </a:r>
            <a:r>
              <a:rPr lang="en-US" sz="1200">
                <a:latin typeface="Segoe UI"/>
                <a:ea typeface="+mn-lt"/>
                <a:cs typeface="Segoe UI"/>
              </a:rPr>
              <a:t> von </a:t>
            </a:r>
            <a:r>
              <a:rPr lang="en-US" sz="1200" err="1">
                <a:latin typeface="Segoe UI"/>
                <a:ea typeface="+mn-lt"/>
                <a:cs typeface="Segoe UI"/>
              </a:rPr>
              <a:t>über</a:t>
            </a:r>
            <a:r>
              <a:rPr lang="en-US" sz="1200">
                <a:latin typeface="Segoe UI"/>
                <a:ea typeface="+mn-lt"/>
                <a:cs typeface="Segoe UI"/>
              </a:rPr>
              <a:t> 100  </a:t>
            </a:r>
            <a:r>
              <a:rPr lang="en-US" sz="1200" err="1">
                <a:latin typeface="Segoe UI"/>
                <a:ea typeface="+mn-lt"/>
                <a:cs typeface="Segoe UI"/>
              </a:rPr>
              <a:t>Millionen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Nutzern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verwendet</a:t>
            </a:r>
            <a:r>
              <a:rPr lang="en-US" sz="1200">
                <a:latin typeface="Segoe UI"/>
                <a:ea typeface="+mn-lt"/>
                <a:cs typeface="Segoe UI"/>
              </a:rPr>
              <a:t> Netflix KI-</a:t>
            </a:r>
            <a:r>
              <a:rPr lang="en-US" sz="1200" err="1">
                <a:latin typeface="Segoe UI"/>
                <a:ea typeface="+mn-lt"/>
                <a:cs typeface="Segoe UI"/>
              </a:rPr>
              <a:t>Algorithmen</a:t>
            </a:r>
            <a:r>
              <a:rPr lang="en-US" sz="1200">
                <a:latin typeface="Segoe UI"/>
                <a:ea typeface="+mn-lt"/>
                <a:cs typeface="Segoe UI"/>
              </a:rPr>
              <a:t>, um Prognose </a:t>
            </a:r>
            <a:r>
              <a:rPr lang="en-US" sz="1200" err="1">
                <a:latin typeface="Segoe UI"/>
                <a:ea typeface="+mn-lt"/>
                <a:cs typeface="Segoe UI"/>
              </a:rPr>
              <a:t>mit</a:t>
            </a:r>
            <a:r>
              <a:rPr lang="en-US" sz="1200">
                <a:latin typeface="Segoe UI"/>
                <a:ea typeface="+mn-lt"/>
                <a:cs typeface="Segoe UI"/>
              </a:rPr>
              <a:t> bis </a:t>
            </a:r>
            <a:r>
              <a:rPr lang="en-US" sz="1200" err="1">
                <a:latin typeface="Segoe UI"/>
                <a:ea typeface="+mn-lt"/>
                <a:cs typeface="Segoe UI"/>
              </a:rPr>
              <a:t>zu</a:t>
            </a:r>
            <a:r>
              <a:rPr lang="en-US" sz="1200">
                <a:latin typeface="Segoe UI"/>
                <a:ea typeface="+mn-lt"/>
                <a:cs typeface="Segoe UI"/>
              </a:rPr>
              <a:t> 80 % </a:t>
            </a:r>
            <a:r>
              <a:rPr lang="en-US" sz="1200" err="1">
                <a:latin typeface="Segoe UI"/>
                <a:ea typeface="+mn-lt"/>
                <a:cs typeface="Segoe UI"/>
              </a:rPr>
              <a:t>Genauigkeit</a:t>
            </a:r>
            <a:r>
              <a:rPr lang="en-US" sz="1200">
                <a:latin typeface="Segoe UI"/>
                <a:ea typeface="+mn-lt"/>
                <a:cs typeface="Segoe UI"/>
              </a:rPr>
              <a:t> Prognose </a:t>
            </a:r>
            <a:r>
              <a:rPr lang="en-US" sz="1200" err="1">
                <a:latin typeface="Segoe UI"/>
                <a:ea typeface="+mn-lt"/>
                <a:cs typeface="Segoe UI"/>
              </a:rPr>
              <a:t>darüber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zu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erstellen</a:t>
            </a:r>
            <a:r>
              <a:rPr lang="en-US" sz="1200">
                <a:latin typeface="Segoe UI"/>
                <a:ea typeface="+mn-lt"/>
                <a:cs typeface="Segoe UI"/>
              </a:rPr>
              <a:t>, </a:t>
            </a:r>
            <a:r>
              <a:rPr lang="en-US" sz="1200" err="1">
                <a:latin typeface="Segoe UI"/>
                <a:ea typeface="+mn-lt"/>
                <a:cs typeface="Segoe UI"/>
              </a:rPr>
              <a:t>welche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Inhalte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Nutzer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interessieren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könnten</a:t>
            </a:r>
            <a:r>
              <a:rPr lang="en-US" sz="1200">
                <a:latin typeface="Segoe UI"/>
                <a:ea typeface="+mn-lt"/>
                <a:cs typeface="Segoe UI"/>
              </a:rPr>
              <a:t>.</a:t>
            </a:r>
            <a:endParaRPr 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3B2BBC48-AA10-0C1D-F833-9D48E2EDD271}"/>
              </a:ext>
            </a:extLst>
          </p:cNvPr>
          <p:cNvSpPr txBox="1"/>
          <p:nvPr/>
        </p:nvSpPr>
        <p:spPr>
          <a:xfrm>
            <a:off x="485653" y="4168488"/>
            <a:ext cx="252271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dirty="0">
                <a:latin typeface="Segoe UI"/>
                <a:ea typeface="+mn-lt"/>
                <a:cs typeface="+mn-lt"/>
              </a:rPr>
              <a:t>Der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weltweit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führende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Logistik-dienstleister</a:t>
            </a:r>
            <a:r>
              <a:rPr lang="en-US" sz="1200" dirty="0">
                <a:latin typeface="Segoe UI"/>
                <a:ea typeface="+mn-lt"/>
                <a:cs typeface="+mn-lt"/>
              </a:rPr>
              <a:t> DHL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nutzt</a:t>
            </a:r>
            <a:r>
              <a:rPr lang="en-US" sz="1200" dirty="0">
                <a:latin typeface="Segoe UI"/>
                <a:ea typeface="+mn-lt"/>
                <a:cs typeface="+mn-lt"/>
              </a:rPr>
              <a:t> Cloud-BI und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IoT-Sensoren</a:t>
            </a:r>
            <a:r>
              <a:rPr lang="en-US" sz="1200" dirty="0">
                <a:latin typeface="Segoe UI"/>
                <a:ea typeface="+mn-lt"/>
                <a:cs typeface="+mn-lt"/>
              </a:rPr>
              <a:t>, um den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Zustand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sensibler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Sendungen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wie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Pharmazeutika</a:t>
            </a:r>
            <a:r>
              <a:rPr lang="en-US" sz="1200" dirty="0">
                <a:latin typeface="Segoe UI"/>
                <a:ea typeface="+mn-lt"/>
                <a:cs typeface="+mn-lt"/>
              </a:rPr>
              <a:t> in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Echtzeit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zu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verfolgen</a:t>
            </a:r>
            <a:r>
              <a:rPr lang="en-US" sz="1200" dirty="0">
                <a:latin typeface="Segoe UI"/>
                <a:ea typeface="+mn-lt"/>
                <a:cs typeface="+mn-lt"/>
              </a:rPr>
              <a:t>. Dies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gewährleistet</a:t>
            </a:r>
            <a:r>
              <a:rPr lang="en-US" sz="1200" dirty="0">
                <a:latin typeface="Segoe UI"/>
                <a:ea typeface="+mn-lt"/>
                <a:cs typeface="+mn-lt"/>
              </a:rPr>
              <a:t> die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Produktqualität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entlang</a:t>
            </a:r>
            <a:r>
              <a:rPr lang="en-US" sz="1200" dirty="0">
                <a:latin typeface="Segoe UI"/>
                <a:ea typeface="+mn-lt"/>
                <a:cs typeface="+mn-lt"/>
              </a:rPr>
              <a:t> der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Lieferkette</a:t>
            </a:r>
            <a:r>
              <a:rPr lang="en-US" sz="1200" dirty="0">
                <a:latin typeface="Segoe UI"/>
                <a:ea typeface="+mn-lt"/>
                <a:cs typeface="+mn-lt"/>
              </a:rPr>
              <a:t> und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verbessert</a:t>
            </a:r>
            <a:r>
              <a:rPr lang="en-US" sz="1200" dirty="0">
                <a:latin typeface="Segoe UI"/>
                <a:ea typeface="+mn-lt"/>
                <a:cs typeface="+mn-lt"/>
              </a:rPr>
              <a:t> die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betriebliche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Effizienz</a:t>
            </a:r>
            <a:r>
              <a:rPr lang="en-US" sz="1200" dirty="0">
                <a:latin typeface="Segoe UI"/>
                <a:ea typeface="+mn-lt"/>
                <a:cs typeface="+mn-lt"/>
              </a:rPr>
              <a:t>.</a:t>
            </a:r>
            <a:endParaRPr lang="en-US" sz="1200" dirty="0">
              <a:latin typeface="Segoe UI"/>
              <a:cs typeface="Segoe UI"/>
            </a:endParaRPr>
          </a:p>
        </p:txBody>
      </p:sp>
      <p:pic>
        <p:nvPicPr>
          <p:cNvPr id="21" name="Picture 20" descr="A red logo on a black background&#10;&#10;AI-generated content may be incorrect.">
            <a:extLst>
              <a:ext uri="{FF2B5EF4-FFF2-40B4-BE49-F238E27FC236}">
                <a16:creationId xmlns="" xmlns:a16="http://schemas.microsoft.com/office/drawing/2014/main" id="{A6730B47-C07C-6138-D38E-9D94B683AA5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-1099" b="1053"/>
          <a:stretch>
            <a:fillRect/>
          </a:stretch>
        </p:blipFill>
        <p:spPr>
          <a:xfrm>
            <a:off x="3927215" y="3364656"/>
            <a:ext cx="1304811" cy="961145"/>
          </a:xfrm>
          <a:prstGeom prst="rect">
            <a:avLst/>
          </a:prstGeom>
        </p:spPr>
      </p:pic>
      <p:pic>
        <p:nvPicPr>
          <p:cNvPr id="23" name="Picture 22" descr="A red and black logo&#10;&#10;AI-generated content may be incorrect.">
            <a:extLst>
              <a:ext uri="{FF2B5EF4-FFF2-40B4-BE49-F238E27FC236}">
                <a16:creationId xmlns="" xmlns:a16="http://schemas.microsoft.com/office/drawing/2014/main" id="{0A5D494F-9072-78D3-6AF8-E212065CBA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303" y="3158705"/>
            <a:ext cx="1686555" cy="1459845"/>
          </a:xfrm>
          <a:prstGeom prst="rect">
            <a:avLst/>
          </a:prstGeom>
        </p:spPr>
      </p:pic>
      <p:pic>
        <p:nvPicPr>
          <p:cNvPr id="24" name="Picture 23" descr="A green and black logo&#10;&#10;AI-generated content may be incorrect.">
            <a:extLst>
              <a:ext uri="{FF2B5EF4-FFF2-40B4-BE49-F238E27FC236}">
                <a16:creationId xmlns="" xmlns:a16="http://schemas.microsoft.com/office/drawing/2014/main" id="{53B16BA1-82CA-0DEF-B89E-76B08AEE86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0037" y="3600493"/>
            <a:ext cx="1605959" cy="564030"/>
          </a:xfrm>
          <a:prstGeom prst="rect">
            <a:avLst/>
          </a:prstGeom>
        </p:spPr>
      </p:pic>
      <p:sp>
        <p:nvSpPr>
          <p:cNvPr id="1385" name="Textfeld 1384">
            <a:extLst>
              <a:ext uri="{FF2B5EF4-FFF2-40B4-BE49-F238E27FC236}">
                <a16:creationId xmlns="" xmlns:a16="http://schemas.microsoft.com/office/drawing/2014/main" id="{B6B3D24D-F17D-D4A9-3203-AEC6557C8D7C}"/>
              </a:ext>
            </a:extLst>
          </p:cNvPr>
          <p:cNvSpPr txBox="1"/>
          <p:nvPr/>
        </p:nvSpPr>
        <p:spPr>
          <a:xfrm>
            <a:off x="375963" y="6213764"/>
            <a:ext cx="244091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00">
                <a:latin typeface="Segoe UI"/>
              </a:rPr>
              <a:t>Quelle:</a:t>
            </a:r>
            <a:r>
              <a:rPr lang="de-DE" sz="1000">
                <a:solidFill>
                  <a:srgbClr val="000000"/>
                </a:solidFill>
                <a:latin typeface="Segoe UI"/>
                <a:cs typeface="Segoe UI"/>
              </a:rPr>
              <a:t> DHL  </a:t>
            </a:r>
            <a:r>
              <a:rPr lang="de-DE" sz="1000">
                <a:solidFill>
                  <a:srgbClr val="778BA2"/>
                </a:solidFill>
                <a:latin typeface="Segoe UI"/>
                <a:cs typeface="Segoe UI"/>
                <a:hlinkClick r:id="rId11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www.dhl.com</a:t>
            </a:r>
            <a:endParaRPr lang="de-DE" sz="1000" u="sng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de-DE" sz="1000">
                <a:solidFill>
                  <a:srgbClr val="000000"/>
                </a:solidFill>
                <a:latin typeface="Segoe UI"/>
                <a:cs typeface="Segoe UI"/>
              </a:rPr>
              <a:t>    Netflix</a:t>
            </a:r>
            <a:r>
              <a:rPr lang="de-DE" sz="1000" b="1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de-DE" sz="1000">
                <a:solidFill>
                  <a:srgbClr val="000000"/>
                </a:solidFill>
                <a:latin typeface="Segoe UI"/>
                <a:cs typeface="Segoe UI"/>
                <a:hlinkClick r:id="rId12"/>
              </a:rPr>
              <a:t>www.aws.amazon.com</a:t>
            </a:r>
            <a:endParaRPr lang="de-DE" sz="100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de-DE" sz="1000">
                <a:solidFill>
                  <a:srgbClr val="000000"/>
                </a:solidFill>
                <a:latin typeface="Segoe UI"/>
                <a:cs typeface="Segoe UI"/>
              </a:rPr>
              <a:t>    Hello Fresh </a:t>
            </a:r>
            <a:r>
              <a:rPr lang="de-DE" sz="1000">
                <a:solidFill>
                  <a:srgbClr val="000000"/>
                </a:solidFill>
                <a:latin typeface="Segoe UI"/>
                <a:cs typeface="Segoe UI"/>
                <a:hlinkClick r:id="rId13"/>
              </a:rPr>
              <a:t>www.tableau.com</a:t>
            </a:r>
          </a:p>
          <a:p>
            <a:endParaRPr lang="de-DE" sz="1200" b="1" u="sng">
              <a:solidFill>
                <a:srgbClr val="778BA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1404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0BFBA7-5F0C-D355-438B-6D5CB7AC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437" y="152400"/>
            <a:ext cx="7613864" cy="800451"/>
          </a:xfrm>
        </p:spPr>
        <p:txBody>
          <a:bodyPr>
            <a:normAutofit/>
          </a:bodyPr>
          <a:lstStyle/>
          <a:p>
            <a:r>
              <a:rPr lang="de-DE" sz="3400" b="1" dirty="0">
                <a:latin typeface="Segoe UI"/>
                <a:ea typeface="+mj-lt"/>
                <a:cs typeface="+mj-lt"/>
              </a:rPr>
              <a:t>Herausforderungen &amp; Risiken</a:t>
            </a:r>
            <a:endParaRPr lang="de-DE" sz="3400" b="1" dirty="0">
              <a:latin typeface="Segoe UI"/>
              <a:cs typeface="Segoe UI"/>
            </a:endParaRPr>
          </a:p>
        </p:txBody>
      </p:sp>
      <p:sp>
        <p:nvSpPr>
          <p:cNvPr id="1055" name="Textfeld 1054">
            <a:extLst>
              <a:ext uri="{FF2B5EF4-FFF2-40B4-BE49-F238E27FC236}">
                <a16:creationId xmlns="" xmlns:a16="http://schemas.microsoft.com/office/drawing/2014/main" id="{7B50AF5B-3665-A1F6-41DB-38DF6571F797}"/>
              </a:ext>
            </a:extLst>
          </p:cNvPr>
          <p:cNvSpPr txBox="1"/>
          <p:nvPr/>
        </p:nvSpPr>
        <p:spPr>
          <a:xfrm>
            <a:off x="3314257" y="4009252"/>
            <a:ext cx="252442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Segoe UI"/>
                <a:cs typeface="Segoe UI"/>
              </a:rPr>
              <a:t>Externe </a:t>
            </a:r>
            <a:r>
              <a:rPr lang="en-US" sz="1200" b="1" err="1">
                <a:latin typeface="Segoe UI"/>
                <a:cs typeface="Segoe UI"/>
              </a:rPr>
              <a:t>Abhängigkeit</a:t>
            </a:r>
            <a:endParaRPr lang="en-US" sz="1200" b="1">
              <a:latin typeface="Segoe UI"/>
              <a:cs typeface="Segoe UI"/>
            </a:endParaRPr>
          </a:p>
          <a:p>
            <a:endParaRPr lang="en-US" sz="1200">
              <a:latin typeface="Segoe UI"/>
              <a:cs typeface="Segoe UI"/>
            </a:endParaRPr>
          </a:p>
          <a:p>
            <a:r>
              <a:rPr lang="en-US" sz="1200">
                <a:latin typeface="Segoe UI"/>
                <a:cs typeface="Segoe UI"/>
              </a:rPr>
              <a:t>Starke </a:t>
            </a:r>
            <a:r>
              <a:rPr lang="en-US" sz="1200" err="1">
                <a:latin typeface="Segoe UI"/>
                <a:cs typeface="Segoe UI"/>
              </a:rPr>
              <a:t>Abhängigkeit</a:t>
            </a:r>
            <a:r>
              <a:rPr lang="en-US" sz="1200">
                <a:latin typeface="Segoe UI"/>
                <a:cs typeface="Segoe UI"/>
              </a:rPr>
              <a:t> der Daten und Tools auf </a:t>
            </a:r>
            <a:r>
              <a:rPr lang="en-US" sz="1200" err="1">
                <a:latin typeface="Segoe UI"/>
                <a:cs typeface="Segoe UI"/>
              </a:rPr>
              <a:t>einen</a:t>
            </a:r>
            <a:r>
              <a:rPr lang="en-US" sz="1200">
                <a:latin typeface="Segoe UI"/>
                <a:cs typeface="Segoe UI"/>
              </a:rPr>
              <a:t> Cloud-</a:t>
            </a:r>
            <a:r>
              <a:rPr lang="en-US" sz="1200" err="1">
                <a:latin typeface="Segoe UI"/>
                <a:cs typeface="Segoe UI"/>
              </a:rPr>
              <a:t>Anbieter</a:t>
            </a:r>
            <a:r>
              <a:rPr lang="en-US" sz="1200">
                <a:latin typeface="Segoe UI"/>
                <a:cs typeface="Segoe UI"/>
              </a:rPr>
              <a:t> (z. B. Amazon, Microsoft), </a:t>
            </a:r>
            <a:r>
              <a:rPr lang="en-US" sz="1200" err="1">
                <a:latin typeface="Segoe UI"/>
                <a:cs typeface="Segoe UI"/>
              </a:rPr>
              <a:t>während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ein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Wechsel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zu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einem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anderen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Anbieter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viele</a:t>
            </a:r>
            <a:r>
              <a:rPr lang="en-US" sz="1200">
                <a:latin typeface="Segoe UI"/>
                <a:cs typeface="Segoe UI"/>
              </a:rPr>
              <a:t> Kosten und </a:t>
            </a:r>
            <a:r>
              <a:rPr lang="en-US" sz="1200" err="1">
                <a:latin typeface="Segoe UI"/>
                <a:cs typeface="Segoe UI"/>
              </a:rPr>
              <a:t>technische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Anforderungen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entstehen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könnte</a:t>
            </a:r>
            <a:r>
              <a:rPr lang="en-US" sz="1200">
                <a:latin typeface="Segoe UI"/>
                <a:cs typeface="Segoe UI"/>
              </a:rPr>
              <a:t>.</a:t>
            </a:r>
            <a:endParaRPr lang="en-US">
              <a:latin typeface="Segoe UI"/>
              <a:cs typeface="Segoe UI"/>
            </a:endParaRPr>
          </a:p>
          <a:p>
            <a:endParaRPr lang="en-US" sz="1200" b="1"/>
          </a:p>
        </p:txBody>
      </p:sp>
      <p:sp>
        <p:nvSpPr>
          <p:cNvPr id="1056" name="Textfeld 1055">
            <a:extLst>
              <a:ext uri="{FF2B5EF4-FFF2-40B4-BE49-F238E27FC236}">
                <a16:creationId xmlns="" xmlns:a16="http://schemas.microsoft.com/office/drawing/2014/main" id="{ED0FD6C4-5B1D-CFDC-90D9-CB37D31C5B41}"/>
              </a:ext>
            </a:extLst>
          </p:cNvPr>
          <p:cNvSpPr txBox="1"/>
          <p:nvPr/>
        </p:nvSpPr>
        <p:spPr>
          <a:xfrm>
            <a:off x="5988157" y="4036783"/>
            <a:ext cx="2730331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 err="1">
                <a:latin typeface="Segoe UI"/>
                <a:cs typeface="Segoe UI"/>
              </a:rPr>
              <a:t>Leistungsprobleme</a:t>
            </a:r>
            <a:r>
              <a:rPr lang="en-US" sz="1200" b="1" dirty="0">
                <a:latin typeface="Segoe UI"/>
                <a:cs typeface="Segoe UI"/>
              </a:rPr>
              <a:t> </a:t>
            </a:r>
            <a:r>
              <a:rPr lang="en-US" sz="1200" b="1" dirty="0" err="1">
                <a:latin typeface="Segoe UI"/>
                <a:cs typeface="Segoe UI"/>
              </a:rPr>
              <a:t>bei</a:t>
            </a:r>
            <a:r>
              <a:rPr lang="en-US" sz="1200" b="1" dirty="0">
                <a:latin typeface="Segoe UI"/>
                <a:cs typeface="Segoe UI"/>
              </a:rPr>
              <a:t> </a:t>
            </a:r>
            <a:r>
              <a:rPr lang="en-US" sz="1200" b="1" dirty="0" err="1">
                <a:latin typeface="Segoe UI"/>
                <a:cs typeface="Segoe UI"/>
              </a:rPr>
              <a:t>großen</a:t>
            </a:r>
            <a:r>
              <a:rPr lang="en-US" sz="1200" b="1" dirty="0">
                <a:latin typeface="Segoe UI"/>
                <a:cs typeface="Segoe UI"/>
              </a:rPr>
              <a:t> </a:t>
            </a:r>
            <a:r>
              <a:rPr lang="en-US" sz="1200" b="1" dirty="0" err="1">
                <a:latin typeface="Segoe UI"/>
                <a:cs typeface="Segoe UI"/>
              </a:rPr>
              <a:t>Datenmengen</a:t>
            </a:r>
            <a:endParaRPr lang="en-US" sz="1200" b="1" dirty="0">
              <a:latin typeface="Segoe UI"/>
              <a:cs typeface="Segoe UI"/>
            </a:endParaRPr>
          </a:p>
          <a:p>
            <a:endParaRPr lang="en-US" sz="1200" b="1" dirty="0">
              <a:latin typeface="Segoe UI"/>
              <a:cs typeface="Segoe UI"/>
            </a:endParaRPr>
          </a:p>
          <a:p>
            <a:r>
              <a:rPr lang="en-US" sz="1200" dirty="0" err="1">
                <a:latin typeface="Segoe UI"/>
                <a:cs typeface="Segoe UI"/>
              </a:rPr>
              <a:t>Latenz</a:t>
            </a:r>
            <a:r>
              <a:rPr lang="en-US" sz="1200" dirty="0">
                <a:latin typeface="Segoe UI"/>
                <a:cs typeface="Segoe UI"/>
              </a:rPr>
              <a:t> von Dashboards/ </a:t>
            </a:r>
            <a:r>
              <a:rPr lang="en-US" sz="1200" dirty="0" err="1">
                <a:latin typeface="Segoe UI"/>
                <a:cs typeface="Segoe UI"/>
              </a:rPr>
              <a:t>Analysen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bei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langsamer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oder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unstabiler</a:t>
            </a:r>
            <a:r>
              <a:rPr lang="en-US" sz="1200" dirty="0">
                <a:latin typeface="Segoe UI"/>
                <a:cs typeface="Segoe UI"/>
              </a:rPr>
              <a:t> </a:t>
            </a:r>
            <a:r>
              <a:rPr lang="en-US" sz="1200" dirty="0" err="1">
                <a:latin typeface="Segoe UI"/>
                <a:cs typeface="Segoe UI"/>
              </a:rPr>
              <a:t>Internetverbindung</a:t>
            </a:r>
            <a:r>
              <a:rPr lang="en-US" sz="1200" dirty="0">
                <a:latin typeface="Segoe UI"/>
                <a:cs typeface="Segoe UI"/>
              </a:rPr>
              <a:t>, </a:t>
            </a:r>
            <a:r>
              <a:rPr lang="en-US" sz="1200" dirty="0" err="1">
                <a:latin typeface="Segoe UI"/>
                <a:cs typeface="Segoe UI"/>
              </a:rPr>
              <a:t>im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schlimmsten</a:t>
            </a:r>
            <a:r>
              <a:rPr lang="en-US" sz="1200" dirty="0">
                <a:latin typeface="Segoe UI"/>
                <a:cs typeface="Segoe UI"/>
              </a:rPr>
              <a:t> Fall </a:t>
            </a:r>
            <a:r>
              <a:rPr lang="en-US" sz="1200" dirty="0" err="1">
                <a:latin typeface="Segoe UI"/>
                <a:cs typeface="Segoe UI"/>
              </a:rPr>
              <a:t>kompleter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Zusammenbruch</a:t>
            </a:r>
            <a:r>
              <a:rPr lang="en-US" sz="1200" dirty="0">
                <a:latin typeface="Segoe UI"/>
                <a:cs typeface="Segoe UI"/>
              </a:rPr>
              <a:t> von Cloud-BI </a:t>
            </a:r>
            <a:r>
              <a:rPr lang="en-US" sz="1200" dirty="0" err="1">
                <a:latin typeface="Segoe UI"/>
                <a:cs typeface="Segoe UI"/>
              </a:rPr>
              <a:t>bei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Internetausfall</a:t>
            </a:r>
            <a:r>
              <a:rPr lang="en-US" sz="1200" dirty="0">
                <a:latin typeface="Segoe UI"/>
                <a:cs typeface="Segoe UI"/>
              </a:rPr>
              <a:t> </a:t>
            </a:r>
          </a:p>
          <a:p>
            <a:r>
              <a:rPr lang="en-US" sz="1200" b="1" dirty="0">
                <a:latin typeface="Segoe UI"/>
                <a:cs typeface="Segoe UI"/>
              </a:rPr>
              <a:t>→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Bedarf</a:t>
            </a:r>
            <a:r>
              <a:rPr lang="en-US" sz="1200" dirty="0">
                <a:latin typeface="Segoe UI"/>
                <a:cs typeface="Segoe UI"/>
              </a:rPr>
              <a:t> an </a:t>
            </a:r>
            <a:r>
              <a:rPr lang="en-US" sz="1200" dirty="0" err="1">
                <a:latin typeface="Segoe UI"/>
                <a:cs typeface="Segoe UI"/>
              </a:rPr>
              <a:t>Bandbreite</a:t>
            </a:r>
            <a:r>
              <a:rPr lang="en-US" sz="1200" dirty="0">
                <a:latin typeface="Segoe UI"/>
                <a:cs typeface="Segoe UI"/>
              </a:rPr>
              <a:t> und </a:t>
            </a:r>
            <a:r>
              <a:rPr lang="en-US" sz="1200" dirty="0" err="1" smtClean="0">
                <a:latin typeface="Segoe UI"/>
                <a:cs typeface="Segoe UI"/>
              </a:rPr>
              <a:t>Rechenleistung</a:t>
            </a:r>
            <a:endParaRPr lang="en-US" sz="1200" dirty="0">
              <a:latin typeface="Segoe UI"/>
              <a:cs typeface="Segoe UI"/>
            </a:endParaRPr>
          </a:p>
        </p:txBody>
      </p:sp>
      <p:sp>
        <p:nvSpPr>
          <p:cNvPr id="1057" name="Textfeld 1056">
            <a:extLst>
              <a:ext uri="{FF2B5EF4-FFF2-40B4-BE49-F238E27FC236}">
                <a16:creationId xmlns="" xmlns:a16="http://schemas.microsoft.com/office/drawing/2014/main" id="{244FFF02-471D-BBB9-014E-915EF8B2747E}"/>
              </a:ext>
            </a:extLst>
          </p:cNvPr>
          <p:cNvSpPr txBox="1"/>
          <p:nvPr/>
        </p:nvSpPr>
        <p:spPr>
          <a:xfrm>
            <a:off x="5990578" y="1621257"/>
            <a:ext cx="277991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 err="1">
                <a:latin typeface="Segoe UI"/>
                <a:cs typeface="Segoe UI"/>
              </a:rPr>
              <a:t>Komplexität</a:t>
            </a:r>
            <a:r>
              <a:rPr lang="en-US" sz="1200" b="1" dirty="0">
                <a:latin typeface="Segoe UI"/>
                <a:cs typeface="Segoe UI"/>
              </a:rPr>
              <a:t> </a:t>
            </a:r>
            <a:r>
              <a:rPr lang="en-US" sz="1200" b="1" dirty="0" err="1">
                <a:latin typeface="Segoe UI"/>
                <a:cs typeface="Segoe UI"/>
              </a:rPr>
              <a:t>bei</a:t>
            </a:r>
            <a:r>
              <a:rPr lang="en-US" sz="1200" b="1" dirty="0">
                <a:latin typeface="Segoe UI"/>
                <a:cs typeface="Segoe UI"/>
              </a:rPr>
              <a:t> </a:t>
            </a:r>
            <a:r>
              <a:rPr lang="en-US" sz="1200" b="1" dirty="0" err="1">
                <a:latin typeface="Segoe UI"/>
                <a:cs typeface="Segoe UI"/>
              </a:rPr>
              <a:t>Datenintegration</a:t>
            </a:r>
            <a:endParaRPr lang="en-US" sz="1200" b="1" dirty="0">
              <a:latin typeface="Segoe UI"/>
              <a:cs typeface="Segoe UI"/>
            </a:endParaRPr>
          </a:p>
          <a:p>
            <a:endParaRPr lang="en-US" sz="1200" b="1" dirty="0">
              <a:latin typeface="Segoe UI"/>
              <a:cs typeface="Segoe UI"/>
            </a:endParaRPr>
          </a:p>
          <a:p>
            <a:r>
              <a:rPr lang="en-US" sz="1200" dirty="0" err="1">
                <a:latin typeface="Segoe UI"/>
                <a:cs typeface="Segoe UI"/>
              </a:rPr>
              <a:t>Komplexe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Probleme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bei</a:t>
            </a:r>
            <a:r>
              <a:rPr lang="en-US" sz="1200" dirty="0">
                <a:latin typeface="Segoe UI"/>
                <a:cs typeface="Segoe UI"/>
              </a:rPr>
              <a:t> der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Sicherstellung</a:t>
            </a:r>
            <a:r>
              <a:rPr lang="en-US" sz="1200" dirty="0">
                <a:latin typeface="Segoe UI"/>
                <a:ea typeface="+mn-lt"/>
                <a:cs typeface="+mn-lt"/>
              </a:rPr>
              <a:t> und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Aufrechterhaltung</a:t>
            </a:r>
            <a:r>
              <a:rPr lang="en-US" sz="1200" dirty="0">
                <a:latin typeface="Segoe UI"/>
                <a:ea typeface="+mn-lt"/>
                <a:cs typeface="+mn-lt"/>
              </a:rPr>
              <a:t> der </a:t>
            </a:r>
            <a:r>
              <a:rPr lang="en-US" sz="1200" dirty="0" err="1">
                <a:latin typeface="Segoe UI"/>
                <a:cs typeface="Segoe UI"/>
              </a:rPr>
              <a:t>Datenqualität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aus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unterschiedlichen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Quellen</a:t>
            </a:r>
            <a:r>
              <a:rPr lang="en-US" sz="1200" dirty="0">
                <a:latin typeface="Segoe UI"/>
                <a:cs typeface="Segoe UI"/>
              </a:rPr>
              <a:t> und </a:t>
            </a:r>
            <a:r>
              <a:rPr lang="en-US" sz="1200" dirty="0" err="1">
                <a:latin typeface="Segoe UI"/>
                <a:cs typeface="Segoe UI"/>
              </a:rPr>
              <a:t>Formaten</a:t>
            </a:r>
            <a:endParaRPr lang="en-US" sz="1200" dirty="0">
              <a:latin typeface="Segoe UI"/>
              <a:cs typeface="Segoe UI"/>
            </a:endParaRPr>
          </a:p>
          <a:p>
            <a:pPr marL="228600" indent="-228600">
              <a:buFont typeface=""/>
              <a:buChar char="•"/>
            </a:pPr>
            <a:endParaRPr lang="en-US" sz="1200" dirty="0"/>
          </a:p>
          <a:p>
            <a:pPr>
              <a:buFont typeface="Arial"/>
              <a:buChar char="•"/>
            </a:pPr>
            <a:endParaRPr lang="en-US" sz="1200" dirty="0"/>
          </a:p>
          <a:p>
            <a:pPr marL="228600" indent="-228600">
              <a:buFont typeface=""/>
              <a:buChar char="•"/>
            </a:pPr>
            <a:endParaRPr lang="en-US" dirty="0"/>
          </a:p>
        </p:txBody>
      </p:sp>
      <p:sp>
        <p:nvSpPr>
          <p:cNvPr id="5" name="Textfeld 1054">
            <a:extLst>
              <a:ext uri="{FF2B5EF4-FFF2-40B4-BE49-F238E27FC236}">
                <a16:creationId xmlns="" xmlns:a16="http://schemas.microsoft.com/office/drawing/2014/main" id="{261AFE06-C89C-74BF-8C92-3B11F3D065E4}"/>
              </a:ext>
            </a:extLst>
          </p:cNvPr>
          <p:cNvSpPr txBox="1"/>
          <p:nvPr/>
        </p:nvSpPr>
        <p:spPr>
          <a:xfrm>
            <a:off x="3299851" y="1609884"/>
            <a:ext cx="235103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latin typeface="Segoe UI"/>
                <a:cs typeface="Segoe UI"/>
              </a:rPr>
              <a:t>Datenschutz</a:t>
            </a:r>
            <a:r>
              <a:rPr lang="en-US" sz="1200" b="1">
                <a:latin typeface="Segoe UI"/>
                <a:cs typeface="Segoe UI"/>
              </a:rPr>
              <a:t> (DSGVO)</a:t>
            </a:r>
            <a:endParaRPr lang="en-US"/>
          </a:p>
          <a:p>
            <a:endParaRPr lang="en-US" sz="1200">
              <a:latin typeface="Segoe UI"/>
              <a:cs typeface="Segoe UI"/>
            </a:endParaRPr>
          </a:p>
          <a:p>
            <a:r>
              <a:rPr lang="en-US" sz="1200" err="1">
                <a:latin typeface="Segoe UI"/>
                <a:cs typeface="Segoe UI"/>
              </a:rPr>
              <a:t>Herausforderung</a:t>
            </a:r>
            <a:r>
              <a:rPr lang="en-US" sz="1200">
                <a:latin typeface="Segoe UI"/>
                <a:cs typeface="Segoe UI"/>
              </a:rPr>
              <a:t> </a:t>
            </a:r>
            <a:r>
              <a:rPr lang="en-US" sz="1200" err="1">
                <a:latin typeface="Segoe UI"/>
                <a:cs typeface="Segoe UI"/>
              </a:rPr>
              <a:t>zur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Erfüllung</a:t>
            </a:r>
            <a:r>
              <a:rPr lang="en-US" sz="1200">
                <a:latin typeface="Segoe UI"/>
                <a:cs typeface="Segoe UI"/>
              </a:rPr>
              <a:t> von </a:t>
            </a:r>
            <a:r>
              <a:rPr lang="en-US" sz="1200" err="1">
                <a:latin typeface="Segoe UI"/>
                <a:cs typeface="Segoe UI"/>
              </a:rPr>
              <a:t>rechtlichen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Anforderungen</a:t>
            </a:r>
            <a:r>
              <a:rPr lang="en-US" sz="1200">
                <a:latin typeface="Segoe UI"/>
                <a:cs typeface="Segoe UI"/>
              </a:rPr>
              <a:t> der EU, </a:t>
            </a:r>
            <a:r>
              <a:rPr lang="en-US" sz="1200" err="1">
                <a:latin typeface="Segoe UI"/>
                <a:cs typeface="Segoe UI"/>
              </a:rPr>
              <a:t>besonders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kritisch</a:t>
            </a:r>
            <a:r>
              <a:rPr lang="en-US" sz="1200">
                <a:latin typeface="Segoe UI"/>
                <a:cs typeface="Segoe UI"/>
              </a:rPr>
              <a:t> in </a:t>
            </a:r>
            <a:r>
              <a:rPr lang="en-US" sz="1200" err="1">
                <a:latin typeface="Segoe UI"/>
                <a:cs typeface="Segoe UI"/>
              </a:rPr>
              <a:t>Ländern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mit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strengen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Datenschutzgesetzen</a:t>
            </a:r>
            <a:r>
              <a:rPr lang="en-US" sz="1200">
                <a:latin typeface="Segoe UI"/>
                <a:cs typeface="Segoe UI"/>
              </a:rPr>
              <a:t> (z. B. DSGVO in Deutschland)</a:t>
            </a:r>
          </a:p>
          <a:p>
            <a:endParaRPr lang="en-US" sz="1200">
              <a:latin typeface="Segoe UI"/>
              <a:cs typeface="Segoe UI"/>
            </a:endParaRPr>
          </a:p>
          <a:p>
            <a:endParaRPr lang="en-US" sz="1200" b="1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B586CDE-EC1A-2A69-9491-903C6DF4C583}"/>
              </a:ext>
            </a:extLst>
          </p:cNvPr>
          <p:cNvSpPr txBox="1"/>
          <p:nvPr/>
        </p:nvSpPr>
        <p:spPr>
          <a:xfrm>
            <a:off x="558581" y="4010623"/>
            <a:ext cx="236479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latin typeface="Segoe UI"/>
                <a:cs typeface="Segoe UI"/>
              </a:rPr>
              <a:t>Laufende</a:t>
            </a:r>
            <a:r>
              <a:rPr lang="en-US" sz="1200" b="1">
                <a:latin typeface="Segoe UI"/>
                <a:cs typeface="Segoe UI"/>
              </a:rPr>
              <a:t> </a:t>
            </a:r>
            <a:r>
              <a:rPr lang="en-US" sz="1200" b="1" err="1">
                <a:latin typeface="Segoe UI"/>
                <a:cs typeface="Segoe UI"/>
              </a:rPr>
              <a:t>Softwarekosten</a:t>
            </a:r>
            <a:endParaRPr lang="en-US" sz="1200" b="1">
              <a:latin typeface="Segoe UI"/>
              <a:cs typeface="Segoe UI"/>
            </a:endParaRPr>
          </a:p>
          <a:p>
            <a:endParaRPr lang="en-US" sz="1200">
              <a:latin typeface="Segoe UI"/>
              <a:cs typeface="Segoe UI"/>
            </a:endParaRPr>
          </a:p>
          <a:p>
            <a:r>
              <a:rPr lang="en-US" sz="1200" err="1">
                <a:latin typeface="Segoe UI"/>
                <a:cs typeface="Segoe UI"/>
              </a:rPr>
              <a:t>Steigende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>
                <a:latin typeface="Segoe UI"/>
                <a:ea typeface="+mn-lt"/>
                <a:cs typeface="Segoe UI"/>
              </a:rPr>
              <a:t>Kosten für </a:t>
            </a:r>
            <a:r>
              <a:rPr lang="en-US" sz="1200" err="1">
                <a:latin typeface="Segoe UI"/>
                <a:ea typeface="+mn-lt"/>
                <a:cs typeface="Segoe UI"/>
              </a:rPr>
              <a:t>Lizenz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oder</a:t>
            </a:r>
            <a:r>
              <a:rPr lang="en-US" sz="1200">
                <a:latin typeface="Segoe UI"/>
                <a:ea typeface="+mn-lt"/>
                <a:cs typeface="Segoe UI"/>
              </a:rPr>
              <a:t> Abonnement </a:t>
            </a:r>
            <a:r>
              <a:rPr lang="en-US" sz="1200" err="1">
                <a:latin typeface="Segoe UI"/>
                <a:ea typeface="+mn-lt"/>
                <a:cs typeface="Segoe UI"/>
              </a:rPr>
              <a:t>bei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großem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Datenvolumen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oder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vielen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Nutzern</a:t>
            </a:r>
            <a:r>
              <a:rPr lang="en-US" sz="1200">
                <a:latin typeface="Segoe UI"/>
                <a:ea typeface="+mn-lt"/>
                <a:cs typeface="Segoe UI"/>
              </a:rPr>
              <a:t> (</a:t>
            </a:r>
            <a:r>
              <a:rPr lang="en-US" sz="1200" err="1">
                <a:latin typeface="Segoe UI"/>
                <a:ea typeface="+mn-lt"/>
                <a:cs typeface="Segoe UI"/>
              </a:rPr>
              <a:t>z.B.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gleichzeitig</a:t>
            </a:r>
            <a:r>
              <a:rPr lang="en-US" sz="1200">
                <a:latin typeface="Segoe UI"/>
                <a:ea typeface="+mn-lt"/>
                <a:cs typeface="Segoe UI"/>
              </a:rPr>
              <a:t> in </a:t>
            </a:r>
            <a:r>
              <a:rPr lang="en-US" sz="1200" err="1">
                <a:latin typeface="Segoe UI"/>
                <a:ea typeface="+mn-lt"/>
                <a:cs typeface="Segoe UI"/>
              </a:rPr>
              <a:t>vielen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Abteilungen</a:t>
            </a:r>
            <a:r>
              <a:rPr lang="en-US" sz="1200">
                <a:latin typeface="Segoe UI"/>
                <a:ea typeface="+mn-lt"/>
                <a:cs typeface="Segoe UI"/>
              </a:rPr>
              <a:t>)</a:t>
            </a:r>
            <a:endParaRPr lang="en-US" sz="1200">
              <a:latin typeface="Segoe UI"/>
              <a:cs typeface="Segoe UI"/>
            </a:endParaRPr>
          </a:p>
        </p:txBody>
      </p:sp>
      <p:sp>
        <p:nvSpPr>
          <p:cNvPr id="8" name="Textfeld 1054">
            <a:extLst>
              <a:ext uri="{FF2B5EF4-FFF2-40B4-BE49-F238E27FC236}">
                <a16:creationId xmlns="" xmlns:a16="http://schemas.microsoft.com/office/drawing/2014/main" id="{7B223761-5937-AC03-F317-3FC99DAB27E8}"/>
              </a:ext>
            </a:extLst>
          </p:cNvPr>
          <p:cNvSpPr txBox="1"/>
          <p:nvPr/>
        </p:nvSpPr>
        <p:spPr>
          <a:xfrm>
            <a:off x="543923" y="1590035"/>
            <a:ext cx="2387056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latin typeface="Segoe UI"/>
                <a:cs typeface="Segoe UI"/>
              </a:rPr>
              <a:t>Datensicherheit</a:t>
            </a:r>
            <a:endParaRPr lang="en-US" err="1"/>
          </a:p>
          <a:p>
            <a:endParaRPr lang="en-US" sz="1200">
              <a:latin typeface="Segoe UI"/>
              <a:cs typeface="Segoe UI"/>
            </a:endParaRPr>
          </a:p>
          <a:p>
            <a:r>
              <a:rPr lang="en-US" sz="1200" err="1">
                <a:latin typeface="Segoe UI"/>
                <a:cs typeface="Segoe UI"/>
              </a:rPr>
              <a:t>Gefahr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durch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Cyberangriffe</a:t>
            </a:r>
            <a:r>
              <a:rPr lang="en-US" sz="1200">
                <a:latin typeface="Segoe UI"/>
                <a:cs typeface="Segoe UI"/>
              </a:rPr>
              <a:t>, </a:t>
            </a:r>
            <a:r>
              <a:rPr lang="en-US" sz="1200" err="1">
                <a:latin typeface="Segoe UI"/>
                <a:cs typeface="Segoe UI"/>
              </a:rPr>
              <a:t>Datenlecks</a:t>
            </a:r>
            <a:r>
              <a:rPr lang="en-US" sz="1200">
                <a:latin typeface="Segoe UI"/>
                <a:cs typeface="Segoe UI"/>
              </a:rPr>
              <a:t>, </a:t>
            </a:r>
            <a:r>
              <a:rPr lang="en-US" sz="1200" err="1">
                <a:latin typeface="Segoe UI"/>
                <a:cs typeface="Segoe UI"/>
              </a:rPr>
              <a:t>Verlust</a:t>
            </a:r>
            <a:r>
              <a:rPr lang="en-US" sz="1200">
                <a:latin typeface="Segoe UI"/>
                <a:cs typeface="Segoe UI"/>
              </a:rPr>
              <a:t> von </a:t>
            </a:r>
            <a:r>
              <a:rPr lang="en-US" sz="1200" err="1">
                <a:latin typeface="Segoe UI"/>
                <a:cs typeface="Segoe UI"/>
              </a:rPr>
              <a:t>Unternehmensdaten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sowie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internen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Kontrolle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bei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Speicherung</a:t>
            </a:r>
            <a:r>
              <a:rPr lang="en-US" sz="1200">
                <a:latin typeface="Segoe UI"/>
                <a:cs typeface="Segoe UI"/>
              </a:rPr>
              <a:t> der Daten auf </a:t>
            </a:r>
            <a:r>
              <a:rPr lang="en-US" sz="1200" err="1">
                <a:latin typeface="Segoe UI"/>
                <a:cs typeface="Segoe UI"/>
              </a:rPr>
              <a:t>externen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Servern</a:t>
            </a:r>
            <a:r>
              <a:rPr lang="en-US" sz="1200">
                <a:latin typeface="Segoe UI"/>
                <a:cs typeface="Segoe UI"/>
              </a:rPr>
              <a:t> (des </a:t>
            </a:r>
            <a:r>
              <a:rPr lang="en-US" sz="1200" err="1">
                <a:latin typeface="Segoe UI"/>
                <a:cs typeface="Segoe UI"/>
              </a:rPr>
              <a:t>Cloudanbieters</a:t>
            </a:r>
            <a:r>
              <a:rPr lang="en-US" sz="1200">
                <a:latin typeface="Segoe UI"/>
                <a:cs typeface="Segoe UI"/>
              </a:rPr>
              <a:t>)</a:t>
            </a:r>
          </a:p>
          <a:p>
            <a:endParaRPr lang="en-US" sz="1200">
              <a:latin typeface="Segoe UI"/>
              <a:cs typeface="Segoe UI"/>
            </a:endParaRPr>
          </a:p>
          <a:p>
            <a:endParaRPr lang="en-US" sz="1200" b="1"/>
          </a:p>
        </p:txBody>
      </p:sp>
      <p:pic>
        <p:nvPicPr>
          <p:cNvPr id="4" name="Grafik 3" descr="Sperren mit einfarbiger Füllung">
            <a:extLst>
              <a:ext uri="{FF2B5EF4-FFF2-40B4-BE49-F238E27FC236}">
                <a16:creationId xmlns="" xmlns:a16="http://schemas.microsoft.com/office/drawing/2014/main" id="{BC502FD8-2C7B-35EF-7857-A1AD6E818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077" y="1016427"/>
            <a:ext cx="574715" cy="574716"/>
          </a:xfrm>
          <a:prstGeom prst="rect">
            <a:avLst/>
          </a:prstGeom>
        </p:spPr>
      </p:pic>
      <p:pic>
        <p:nvPicPr>
          <p:cNvPr id="6" name="Grafik 5" descr="Adressbuch mit einfarbiger Füllung">
            <a:extLst>
              <a:ext uri="{FF2B5EF4-FFF2-40B4-BE49-F238E27FC236}">
                <a16:creationId xmlns="" xmlns:a16="http://schemas.microsoft.com/office/drawing/2014/main" id="{472678E6-DE82-FA61-2B86-5D6645176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1485" y="1038077"/>
            <a:ext cx="602433" cy="588957"/>
          </a:xfrm>
          <a:prstGeom prst="rect">
            <a:avLst/>
          </a:prstGeom>
        </p:spPr>
      </p:pic>
      <p:pic>
        <p:nvPicPr>
          <p:cNvPr id="9" name="Grafik 8" descr="Ratlos mit einfarbiger Füllung">
            <a:extLst>
              <a:ext uri="{FF2B5EF4-FFF2-40B4-BE49-F238E27FC236}">
                <a16:creationId xmlns="" xmlns:a16="http://schemas.microsoft.com/office/drawing/2014/main" id="{05203011-16B9-348A-F9D6-73BE0DA85F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6109" y="1031874"/>
            <a:ext cx="592927" cy="563740"/>
          </a:xfrm>
          <a:prstGeom prst="rect">
            <a:avLst/>
          </a:prstGeom>
        </p:spPr>
      </p:pic>
      <p:pic>
        <p:nvPicPr>
          <p:cNvPr id="10" name="Grafik 9" descr="Internet mit einfarbiger Füllung">
            <a:extLst>
              <a:ext uri="{FF2B5EF4-FFF2-40B4-BE49-F238E27FC236}">
                <a16:creationId xmlns="" xmlns:a16="http://schemas.microsoft.com/office/drawing/2014/main" id="{026CECFB-7991-893D-A00D-11052B8EF9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13894" y="3334413"/>
            <a:ext cx="684823" cy="758093"/>
          </a:xfrm>
          <a:prstGeom prst="rect">
            <a:avLst/>
          </a:prstGeom>
        </p:spPr>
      </p:pic>
      <p:pic>
        <p:nvPicPr>
          <p:cNvPr id="11" name="Grafik 10" descr="Internet der Dinge mit einfarbiger Füllung">
            <a:extLst>
              <a:ext uri="{FF2B5EF4-FFF2-40B4-BE49-F238E27FC236}">
                <a16:creationId xmlns="" xmlns:a16="http://schemas.microsoft.com/office/drawing/2014/main" id="{18A08587-921A-DAB8-5299-1570D68F6E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57511" y="3362213"/>
            <a:ext cx="716771" cy="728916"/>
          </a:xfrm>
          <a:prstGeom prst="rect">
            <a:avLst/>
          </a:prstGeom>
        </p:spPr>
      </p:pic>
      <p:pic>
        <p:nvPicPr>
          <p:cNvPr id="12" name="Grafik 11" descr="Geld mit einfarbiger Füllung">
            <a:extLst>
              <a:ext uri="{FF2B5EF4-FFF2-40B4-BE49-F238E27FC236}">
                <a16:creationId xmlns="" xmlns:a16="http://schemas.microsoft.com/office/drawing/2014/main" id="{00334F71-6C95-4056-C794-221BC8B7FE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7733" y="3379131"/>
            <a:ext cx="611555" cy="60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9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="" xmlns:a16="http://schemas.microsoft.com/office/drawing/2014/main" id="{AEBD5F45-86E3-42E9-506F-C065E71F3CD8}"/>
              </a:ext>
            </a:extLst>
          </p:cNvPr>
          <p:cNvSpPr/>
          <p:nvPr/>
        </p:nvSpPr>
        <p:spPr>
          <a:xfrm>
            <a:off x="807979" y="5330623"/>
            <a:ext cx="7719887" cy="6476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E5DF84-4710-C7C3-E602-71B9BA5DF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64" y="223838"/>
            <a:ext cx="8018449" cy="672006"/>
          </a:xfrm>
        </p:spPr>
        <p:txBody>
          <a:bodyPr anchor="t">
            <a:normAutofit/>
          </a:bodyPr>
          <a:lstStyle/>
          <a:p>
            <a:r>
              <a:rPr lang="de-DE" sz="3400" b="1">
                <a:latin typeface="Segoe UI"/>
                <a:cs typeface="Segoe UI"/>
              </a:rPr>
              <a:t>Zukunftsausblick 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="" xmlns:a16="http://schemas.microsoft.com/office/drawing/2014/main" id="{08B88EB7-32D5-52FF-9206-9FFE5839A196}"/>
              </a:ext>
            </a:extLst>
          </p:cNvPr>
          <p:cNvSpPr txBox="1"/>
          <p:nvPr/>
        </p:nvSpPr>
        <p:spPr>
          <a:xfrm>
            <a:off x="908293" y="4111757"/>
            <a:ext cx="7548587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b="1">
                <a:latin typeface="Segoe UI"/>
                <a:cs typeface="Segoe UI"/>
              </a:rPr>
              <a:t>Zukunftstrends:</a:t>
            </a:r>
            <a:endParaRPr lang="de-DE"/>
          </a:p>
          <a:p>
            <a:pPr marL="228600" indent="-228600" algn="just">
              <a:buFont typeface=""/>
              <a:buChar char="•"/>
            </a:pPr>
            <a:r>
              <a:rPr lang="en-US" sz="1200" err="1">
                <a:latin typeface="Segoe UI"/>
                <a:cs typeface="Segoe UI"/>
              </a:rPr>
              <a:t>Zunahme</a:t>
            </a:r>
            <a:r>
              <a:rPr lang="en-US" sz="1200">
                <a:latin typeface="Segoe UI"/>
                <a:cs typeface="Segoe UI"/>
              </a:rPr>
              <a:t> von </a:t>
            </a:r>
            <a:r>
              <a:rPr lang="en-US" sz="1200" b="1">
                <a:latin typeface="Segoe UI"/>
                <a:cs typeface="Segoe UI"/>
              </a:rPr>
              <a:t>KI-</a:t>
            </a:r>
            <a:r>
              <a:rPr lang="en-US" sz="1200" b="1" err="1">
                <a:latin typeface="Segoe UI"/>
                <a:cs typeface="Segoe UI"/>
              </a:rPr>
              <a:t>gestützter</a:t>
            </a:r>
            <a:r>
              <a:rPr lang="en-US" sz="1200" b="1">
                <a:latin typeface="Segoe UI"/>
                <a:cs typeface="Segoe UI"/>
              </a:rPr>
              <a:t> BI,</a:t>
            </a:r>
            <a:r>
              <a:rPr lang="en-US" sz="1200" b="1">
                <a:latin typeface="Segoe UI"/>
                <a:ea typeface="+mn-lt"/>
                <a:cs typeface="Segoe UI"/>
              </a:rPr>
              <a:t> </a:t>
            </a:r>
            <a:r>
              <a:rPr lang="en-US" sz="1200">
                <a:latin typeface="Segoe UI"/>
                <a:ea typeface="+mn-lt"/>
                <a:cs typeface="+mn-lt"/>
              </a:rPr>
              <a:t>um die </a:t>
            </a:r>
            <a:r>
              <a:rPr lang="en-US" sz="1200" b="1" err="1">
                <a:latin typeface="Segoe UI"/>
                <a:ea typeface="+mn-lt"/>
                <a:cs typeface="+mn-lt"/>
              </a:rPr>
              <a:t>prädiktive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>
                <a:latin typeface="Segoe UI"/>
                <a:ea typeface="+mn-lt"/>
                <a:cs typeface="+mn-lt"/>
              </a:rPr>
              <a:t>und </a:t>
            </a:r>
            <a:r>
              <a:rPr lang="en-US" sz="1200" b="1" err="1">
                <a:latin typeface="Segoe UI"/>
                <a:ea typeface="+mn-lt"/>
                <a:cs typeface="+mn-lt"/>
              </a:rPr>
              <a:t>analytische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Automatisierung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zu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verbessern</a:t>
            </a:r>
            <a:endParaRPr lang="en-US" sz="1200">
              <a:latin typeface="Segoe UI"/>
              <a:ea typeface="+mn-lt"/>
              <a:cs typeface="+mn-lt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200" b="1">
                <a:latin typeface="Segoe UI"/>
                <a:cs typeface="Segoe UI"/>
              </a:rPr>
              <a:t>Self-Service BI</a:t>
            </a:r>
            <a:r>
              <a:rPr lang="en-US" sz="1200">
                <a:latin typeface="Segoe UI"/>
                <a:cs typeface="Segoe UI"/>
              </a:rPr>
              <a:t> für </a:t>
            </a:r>
            <a:r>
              <a:rPr lang="en-US" sz="1200" err="1">
                <a:latin typeface="Segoe UI"/>
                <a:cs typeface="Segoe UI"/>
              </a:rPr>
              <a:t>Endnutzer</a:t>
            </a:r>
            <a:endParaRPr lang="en-US" sz="1200">
              <a:latin typeface="Segoe UI"/>
              <a:cs typeface="Segoe U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200">
                <a:latin typeface="Segoe UI"/>
                <a:cs typeface="Segoe UI"/>
              </a:rPr>
              <a:t>Integration von </a:t>
            </a:r>
            <a:r>
              <a:rPr lang="en-US" sz="1200" b="1" err="1">
                <a:latin typeface="Segoe UI"/>
                <a:cs typeface="Segoe UI"/>
              </a:rPr>
              <a:t>Echtzeitdatenanalyse</a:t>
            </a:r>
            <a:r>
              <a:rPr lang="en-US" sz="1200">
                <a:latin typeface="Segoe UI"/>
                <a:cs typeface="Segoe UI"/>
              </a:rPr>
              <a:t> (Real-Time Analytics)</a:t>
            </a:r>
          </a:p>
          <a:p>
            <a:pPr marL="228600" indent="-228600" algn="just">
              <a:buFont typeface=""/>
              <a:buChar char="•"/>
            </a:pPr>
            <a:r>
              <a:rPr lang="en-US" sz="1200">
                <a:latin typeface="Segoe UI"/>
                <a:ea typeface="+mn-lt"/>
                <a:cs typeface="+mn-lt"/>
              </a:rPr>
              <a:t>Immer </a:t>
            </a:r>
            <a:r>
              <a:rPr lang="en-US" sz="1200" err="1">
                <a:latin typeface="Segoe UI"/>
                <a:ea typeface="+mn-lt"/>
                <a:cs typeface="+mn-lt"/>
              </a:rPr>
              <a:t>mehr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Unternehmen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verlagern</a:t>
            </a:r>
            <a:r>
              <a:rPr lang="en-US" sz="1200" b="1">
                <a:latin typeface="Segoe UI"/>
                <a:ea typeface="+mn-lt"/>
                <a:cs typeface="+mn-lt"/>
              </a:rPr>
              <a:t> Daten in die Cloud</a:t>
            </a:r>
            <a:r>
              <a:rPr lang="en-US" sz="1200">
                <a:latin typeface="Segoe UI"/>
                <a:ea typeface="+mn-lt"/>
                <a:cs typeface="+mn-lt"/>
              </a:rPr>
              <a:t> -&gt; </a:t>
            </a:r>
            <a:r>
              <a:rPr lang="en-US" sz="1200" b="1" err="1">
                <a:latin typeface="Segoe UI"/>
                <a:ea typeface="+mn-lt"/>
                <a:cs typeface="+mn-lt"/>
              </a:rPr>
              <a:t>cloudbasierte</a:t>
            </a:r>
            <a:r>
              <a:rPr lang="en-US" sz="1200" b="1">
                <a:latin typeface="Segoe UI"/>
                <a:ea typeface="+mn-lt"/>
                <a:cs typeface="+mn-lt"/>
              </a:rPr>
              <a:t> BI-</a:t>
            </a:r>
            <a:r>
              <a:rPr lang="en-US" sz="1200" b="1" err="1">
                <a:latin typeface="Segoe UI"/>
                <a:ea typeface="+mn-lt"/>
                <a:cs typeface="+mn-lt"/>
              </a:rPr>
              <a:t>Lösungen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werden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zum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neuen</a:t>
            </a:r>
            <a:r>
              <a:rPr lang="en-US" sz="1200" b="1">
                <a:latin typeface="Segoe UI"/>
                <a:ea typeface="+mn-lt"/>
                <a:cs typeface="+mn-lt"/>
              </a:rPr>
              <a:t> Standard</a:t>
            </a:r>
            <a:endParaRPr lang="en-US" sz="1200">
              <a:latin typeface="Segoe UI"/>
              <a:ea typeface="+mn-lt"/>
              <a:cs typeface="Segoe UI"/>
            </a:endParaRPr>
          </a:p>
          <a:p>
            <a:pPr algn="just"/>
            <a:endParaRPr lang="en-US" sz="1200">
              <a:latin typeface="Segoe UI"/>
              <a:ea typeface="+mn-lt"/>
              <a:cs typeface="+mn-lt"/>
            </a:endParaRPr>
          </a:p>
        </p:txBody>
      </p:sp>
      <p:pic>
        <p:nvPicPr>
          <p:cNvPr id="4" name="Grafik 3" descr="Mở ảnh">
            <a:extLst>
              <a:ext uri="{FF2B5EF4-FFF2-40B4-BE49-F238E27FC236}">
                <a16:creationId xmlns="" xmlns:a16="http://schemas.microsoft.com/office/drawing/2014/main" id="{DCC50CD8-0000-B0C8-2C34-276AD2B32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18" y="1215334"/>
            <a:ext cx="6257905" cy="26559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feld 5">
            <a:extLst>
              <a:ext uri="{FF2B5EF4-FFF2-40B4-BE49-F238E27FC236}">
                <a16:creationId xmlns="" xmlns:a16="http://schemas.microsoft.com/office/drawing/2014/main" id="{C1175157-2241-202F-9681-BAE4D7205C7D}"/>
              </a:ext>
            </a:extLst>
          </p:cNvPr>
          <p:cNvSpPr txBox="1"/>
          <p:nvPr/>
        </p:nvSpPr>
        <p:spPr>
          <a:xfrm>
            <a:off x="723243" y="900460"/>
            <a:ext cx="707178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400" b="1">
                <a:latin typeface="Segoe UI"/>
                <a:cs typeface="Segoe UI"/>
              </a:rPr>
              <a:t>Umsatz im Business </a:t>
            </a:r>
            <a:r>
              <a:rPr lang="de-DE" sz="1400" b="1" err="1">
                <a:latin typeface="Segoe UI"/>
                <a:cs typeface="Segoe UI"/>
              </a:rPr>
              <a:t>Intelligence</a:t>
            </a:r>
            <a:r>
              <a:rPr lang="de-DE" sz="1400" b="1">
                <a:latin typeface="Segoe UI"/>
                <a:cs typeface="Segoe UI"/>
              </a:rPr>
              <a:t> Software Markt (2016-2030)</a:t>
            </a:r>
            <a:endParaRPr lang="de-DE" sz="1400" b="1" u="sng"/>
          </a:p>
        </p:txBody>
      </p:sp>
      <p:sp>
        <p:nvSpPr>
          <p:cNvPr id="8" name="Textfeld 7">
            <a:extLst>
              <a:ext uri="{FF2B5EF4-FFF2-40B4-BE49-F238E27FC236}">
                <a16:creationId xmlns="" xmlns:a16="http://schemas.microsoft.com/office/drawing/2014/main" id="{9AC4594C-E05E-91D7-A7AD-D2C2B7290824}"/>
              </a:ext>
            </a:extLst>
          </p:cNvPr>
          <p:cNvSpPr txBox="1"/>
          <p:nvPr/>
        </p:nvSpPr>
        <p:spPr>
          <a:xfrm>
            <a:off x="566777" y="6225100"/>
            <a:ext cx="200107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200">
                <a:latin typeface="Segoe UI"/>
                <a:cs typeface="Segoe UI"/>
              </a:rPr>
              <a:t>Quelle: </a:t>
            </a:r>
            <a:r>
              <a:rPr lang="de-DE" sz="1200" u="sng">
                <a:latin typeface="Segoe UI"/>
                <a:ea typeface="Segoe UI Historic"/>
                <a:cs typeface="Segoe UI Historic"/>
                <a:hlinkClick r:id="rId3"/>
              </a:rPr>
              <a:t>www.statista.com</a:t>
            </a:r>
            <a:endParaRPr lang="de-DE" sz="1200" u="sng">
              <a:latin typeface="Segoe UI"/>
              <a:ea typeface="Segoe UI Historic"/>
              <a:cs typeface="Segoe UI Historic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="" xmlns:a16="http://schemas.microsoft.com/office/drawing/2014/main" id="{4C8D0577-95BC-3A71-D2E3-CAF2B2EA8443}"/>
              </a:ext>
            </a:extLst>
          </p:cNvPr>
          <p:cNvSpPr txBox="1"/>
          <p:nvPr/>
        </p:nvSpPr>
        <p:spPr>
          <a:xfrm>
            <a:off x="905221" y="5330328"/>
            <a:ext cx="76273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b="1" err="1">
                <a:latin typeface="Segoe UI"/>
              </a:rPr>
              <a:t>Fazit</a:t>
            </a:r>
            <a:r>
              <a:rPr lang="en-US" sz="1200" b="1">
                <a:latin typeface="Segoe UI"/>
              </a:rPr>
              <a:t>: </a:t>
            </a:r>
            <a:r>
              <a:rPr lang="en-US" sz="1200">
                <a:latin typeface="Segoe UI"/>
              </a:rPr>
              <a:t>Cloud-</a:t>
            </a:r>
            <a:r>
              <a:rPr lang="en-US" sz="1200" err="1">
                <a:latin typeface="Segoe UI"/>
              </a:rPr>
              <a:t>basierte</a:t>
            </a:r>
            <a:r>
              <a:rPr lang="en-US" sz="1200">
                <a:latin typeface="Segoe UI"/>
              </a:rPr>
              <a:t> BI </a:t>
            </a:r>
            <a:r>
              <a:rPr lang="en-US" sz="1200" err="1">
                <a:latin typeface="Segoe UI"/>
              </a:rPr>
              <a:t>ist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eine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zukunftsweisende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Lösung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mit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vielen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Vorteilen</a:t>
            </a:r>
            <a:r>
              <a:rPr lang="en-US" sz="1200">
                <a:latin typeface="Segoe UI"/>
              </a:rPr>
              <a:t>, </a:t>
            </a:r>
            <a:r>
              <a:rPr lang="en-US" sz="1200" err="1">
                <a:latin typeface="Segoe UI"/>
              </a:rPr>
              <a:t>besonders</a:t>
            </a:r>
            <a:r>
              <a:rPr lang="en-US" sz="1200">
                <a:latin typeface="Segoe UI"/>
              </a:rPr>
              <a:t> für agile, </a:t>
            </a:r>
            <a:r>
              <a:rPr lang="en-US" sz="1200" err="1">
                <a:latin typeface="Segoe UI"/>
              </a:rPr>
              <a:t>datengetriebene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Unternehmen</a:t>
            </a:r>
            <a:r>
              <a:rPr lang="en-US" sz="1200">
                <a:latin typeface="Segoe UI"/>
              </a:rPr>
              <a:t>. </a:t>
            </a:r>
            <a:r>
              <a:rPr lang="en-US" sz="1200">
                <a:latin typeface="Segoe UI"/>
                <a:cs typeface="Segoe UI"/>
              </a:rPr>
              <a:t>Der </a:t>
            </a:r>
            <a:r>
              <a:rPr lang="en-US" sz="1200" err="1">
                <a:latin typeface="Segoe UI"/>
                <a:cs typeface="Segoe UI"/>
              </a:rPr>
              <a:t>Umsatztrend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zeigt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klar</a:t>
            </a:r>
            <a:r>
              <a:rPr lang="en-US" sz="1200">
                <a:latin typeface="Segoe UI"/>
                <a:cs typeface="Segoe UI"/>
              </a:rPr>
              <a:t>: </a:t>
            </a:r>
            <a:r>
              <a:rPr lang="en-US" sz="1200" b="1">
                <a:latin typeface="Segoe UI"/>
                <a:cs typeface="Segoe UI"/>
              </a:rPr>
              <a:t>Cloud BI </a:t>
            </a:r>
            <a:r>
              <a:rPr lang="en-US" sz="1200" b="1" err="1">
                <a:latin typeface="Segoe UI"/>
                <a:cs typeface="Segoe UI"/>
              </a:rPr>
              <a:t>ist</a:t>
            </a:r>
            <a:r>
              <a:rPr lang="en-US" sz="1200" b="1">
                <a:latin typeface="Segoe UI"/>
                <a:cs typeface="Segoe UI"/>
              </a:rPr>
              <a:t> </a:t>
            </a:r>
            <a:r>
              <a:rPr lang="en-US" sz="1200" b="1" err="1">
                <a:latin typeface="Segoe UI"/>
                <a:cs typeface="Segoe UI"/>
              </a:rPr>
              <a:t>kein</a:t>
            </a:r>
            <a:r>
              <a:rPr lang="en-US" sz="1200" b="1">
                <a:latin typeface="Segoe UI"/>
                <a:cs typeface="Segoe UI"/>
              </a:rPr>
              <a:t> </a:t>
            </a:r>
            <a:r>
              <a:rPr lang="en-US" sz="1200" b="1" err="1">
                <a:latin typeface="Segoe UI"/>
                <a:cs typeface="Segoe UI"/>
              </a:rPr>
              <a:t>kurzfristiger</a:t>
            </a:r>
            <a:r>
              <a:rPr lang="en-US" sz="1200" b="1">
                <a:latin typeface="Segoe UI"/>
                <a:cs typeface="Segoe UI"/>
              </a:rPr>
              <a:t> Hype, </a:t>
            </a:r>
            <a:r>
              <a:rPr lang="en-US" sz="1200" b="1" err="1">
                <a:latin typeface="Segoe UI"/>
                <a:cs typeface="Segoe UI"/>
              </a:rPr>
              <a:t>sondern</a:t>
            </a:r>
            <a:r>
              <a:rPr lang="en-US" sz="1200" b="1">
                <a:latin typeface="Segoe UI"/>
                <a:cs typeface="Segoe UI"/>
              </a:rPr>
              <a:t> die Zukunft der </a:t>
            </a:r>
            <a:r>
              <a:rPr lang="en-US" sz="1200" b="1" err="1">
                <a:latin typeface="Segoe UI"/>
                <a:cs typeface="Segoe UI"/>
              </a:rPr>
              <a:t>Datenanalyse</a:t>
            </a:r>
            <a:r>
              <a:rPr lang="en-US" sz="1200" b="1">
                <a:latin typeface="Segoe UI"/>
                <a:cs typeface="Segoe UI"/>
              </a:rPr>
              <a:t>. </a:t>
            </a:r>
            <a:r>
              <a:rPr lang="en-US" sz="1200" err="1">
                <a:latin typeface="Segoe UI"/>
              </a:rPr>
              <a:t>Dennoch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müssen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Sicherheits</a:t>
            </a:r>
            <a:r>
              <a:rPr lang="en-US" sz="1200">
                <a:latin typeface="Segoe UI"/>
              </a:rPr>
              <a:t>- und </a:t>
            </a:r>
            <a:r>
              <a:rPr lang="en-US" sz="1200" err="1">
                <a:latin typeface="Segoe UI"/>
              </a:rPr>
              <a:t>Integrationsaspekte</a:t>
            </a:r>
            <a:r>
              <a:rPr lang="en-US" sz="1200">
                <a:latin typeface="Segoe UI"/>
              </a:rPr>
              <a:t> gut </a:t>
            </a:r>
            <a:r>
              <a:rPr lang="en-US" sz="1200" err="1">
                <a:latin typeface="Segoe UI"/>
              </a:rPr>
              <a:t>geplant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werden</a:t>
            </a:r>
            <a:r>
              <a:rPr lang="en-US" sz="1200">
                <a:latin typeface="Segoe UI"/>
              </a:rPr>
              <a:t>. </a:t>
            </a:r>
            <a:r>
              <a:rPr lang="de-DE" sz="1200">
                <a:latin typeface="Segoe UI"/>
                <a:cs typeface="Segoe UI"/>
              </a:rPr>
              <a:t>​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707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438</Words>
  <Application>Microsoft Office PowerPoint</Application>
  <PresentationFormat>On-screen Show (4:3)</PresentationFormat>
  <Paragraphs>76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BUSINESS INTELLIGENCE IN DER CLOUD</vt:lpstr>
      <vt:lpstr>Einführung von BI in der Cloud </vt:lpstr>
      <vt:lpstr>Vorteile von Cloud-basiertem BI</vt:lpstr>
      <vt:lpstr>Herausforderungen &amp; Risiken</vt:lpstr>
      <vt:lpstr>Zukunftsausblick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INTELLIGENCE IN DER CLOUD</dc:title>
  <dc:creator>nguyen gumiho</dc:creator>
  <cp:lastModifiedBy>nguyen gumiho</cp:lastModifiedBy>
  <cp:revision>2</cp:revision>
  <dcterms:created xsi:type="dcterms:W3CDTF">2026-09-02T12:49:44Z</dcterms:created>
  <dcterms:modified xsi:type="dcterms:W3CDTF">2026-09-02T13:10:11Z</dcterms:modified>
</cp:coreProperties>
</file>